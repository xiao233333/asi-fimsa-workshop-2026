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constraint: you are immunologists, not Python programmers, and nothing here needs installing.
The framing sentence is "one disease, three technologies" -- NOT "the same tissue". These are three different FFPE
breast carcinoma specimens matched by disease and preservation, so a difference between two panels can still be a
difference between two tumours. Say that once here and the caveat is paid for.
Two hours. Four Tutorials. More material is written than fits, deliberately -- what we do not reach is theirs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on time. The numbers are wall-clock for a Participant reading as they go, not compute time --
the headless suite runs all five in 348 s total.
Self-contained matters: if someone loses their session in Tutorial 2, they can open Tutorial 3 and carry on.
Nothing carries state between Tutorials.
More is authored than fits. Say so now so nobody feels behind when we skip a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on the projector once, slowly, before anyone opens their own laptop.
The single most common failure in a room this size is people clicking individual cells out of order.
Runtime -&gt; Run all removes that entirely. Say it twice.
Step 3b exists so a Participant sees something that is unmistakably working. If they get the three blobs,
their session can install, import, reach the data and draw -- which is every prerequisite the Workshop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insurance. Show it, do not dwell -- come back to it when a hand goes up.
The restart is the one genuinely confusing moment: pip replaces pandas under a kernel that already imported it,
so the session must restart before the new version is visible. Only three packages get replaced in total
(pandas, tifffile, gdown); numpy and torch are deliberately left at Colab's own versions.
"Nothing is broken" is the message that keeps a room calm. Repeat it whenever someone looks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motivating slide for the whole Workshop. Give it time.
The honest comparison: run this tissue through scRNA-seq and you would recover the same thirteen populations, in roughly
the same proportions, with better per-cell depth. Everything you can see on this figure -- the rim, the ducts, the
gradient of infiltration from one edge to the other -- is what dissociation costs.
The Tutorial makes this concrete by drawing the same 170,057 points as a UMAP immediately after. Same cells, one arranged
by where they were, the other by what they were expressing. Neither is wrong; they answer different questions.
Say "Atera", not "Xenium v2". It is pre-release 10x chemistry on a Gen2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sentences of physics that explain every difference the Participants are about to see.
Capture: the tissue sits on a slide printed with barcoded oligos, mRNA diffuses down onto them, and the barcode records
which spot it came from. Resolution is the spot pitch, and the gene set is whatever sequencing returns -- so, everything.
Imaging: nothing leaves the slide. Probes bind their targets and are read out optically over many cycles, so resolution is
optical and the gene set is whatever probes were designed. Hence 313 genes on the Xenium panel.
The trade is structural, not a vendor choice. Every "which platform should I use" question reduces to this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Participants will type against this object for two hours, so name its parts once here rather than mid-Tutorial.
The single idea worth landing: a SpatialData object is not one image with things drawn on it. It is several independent
elements, each with its own native units, plus the transformations that put them in a shared frame. That is why you can
crop an H&amp;E and have the cell boundaries come with it.
The unit surprise is real and Tutorial 1 walks into it deliberately in Section 2.5. It is also the same class of bug as the
aligned-versus-raw Atera frame in the prep pipeline: two coordinate systems, no error message, every cell in the wrong place.
If asked why spatialdata_plot is imported but never called: accessor registration is an import side effect. Nothing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intellectual spine of the whole Workshop. Spend a minute on it.
Draw the diagonal with your hand on the projector: top-left is genes, middle is cells, bottom is both.
Everything the Participants see for the next two hours is a consequence of where a platform sits on that diagonal.
Atera is 10x pre-release chemistry on a Gen2 prototype instrument. Call it Atera, not "Xenium v2" -- and note the
full slide is far too large for a Colab session, so Tutorials 2 and 3 work on a prepared Crop.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what they see before you say anything. Somebody always finds the anticorrelation unprompted,
and it lands much harder that way.
PTPRC is the immunology hook and the first limitation of the day: CD45 is real, present, and smeared across
the whole section because a 55 um spot averages several cells. You cannot ask "is this T cell inside the duct"
of this data at all. That question is what Tutorial 1 Section 2 is for.
If asked about the missing H&amp;E: this Tutorial deliberately skips the 1.8 GB full-resolution image. Tutorial 4 downloads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teaching point here is the negative controls, not the clusters. An imaging assay can measure its own false-positive
rate on the same slide, because a probe that targets nothing should detect nothing. Sequencing cannot do that.
Point at a duct on the projector and ask the question out loud: are the T cells inside it or around it? Visium could
not answer that. This can. Hold the answer over until Tutorial 2 -- it is the same question, made quantitative.
The Tutorial builds a fake empty cells.zarr.zip so the reader works without the real 315 MB file. Mention only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gaps in the right-hand panel are the slide to slow down on. They are not missing cells -- they are extracellular
space that Atera's boundary-stain segmentation declines to claim, where Xenium's nucleus expansion tiles the plane
regardless. Two defensible choices producing two different cell areas from the same tissue.
Closing line of Tutorial 1: deconvolution is not resolution. You can estimate what mix of cell types is under a Visium
spot, and that estimate is genuinely useful, but it will never tell you which cell was touching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hundred fake cells, because the idea should land before any real data complicates it.
Point at cell A, then cell B. Both are red. Both would be one row of "Tumour epithelial" in any cell-type table, and in a
differential-expression test they would be pooled. Yet one of them is in a place where a T cell could reach it and the
other is not, and if you care about immunotherapy that difference is the entire question.
The construction of the rest of the Tutorial follows directly: describe each cell by the mix of types around it, and
suddenly A and B are different objects. That vector is all the niche methods need.
Ask which of the three clinical phenotypes this synthetic tissue is. It is immune-excluded -- the ring is on the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method in this Tutorial and the next one is a statistic over a graph, and the graph is a choice nobody shows you.
Delaunay has one appealing property: it never leaves a cell isolated and it adapts to local density. It has one bad one,
visible here -- it will happily connect two cells across an empty lumen, because triangulation has no notion of tissue.
A fixed radius has the opposite failure: in sparse stroma a cell can end up with no neighbours at all.
The 1,700 um edge is the honest version of that. It is a real edge in this graph, it is not a bug, and it is the reason
the Tutorial plots the edge-length distribution rather than trusting the defaults.
If someone asks which to use: whichever you can defend, and report it. The answers do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map of Sections 3, 4 and 5, so nobody wonders halfway through why we are doing the same thing three times.
They are not the same thing. Route one is a hypothesis test about types. Route two is an unsupervised description of
places. Route three turns places into objects with measurable geometry. Each is strictly more specific than the last,
and each costs another assumption.
The scale parameter is the transferable lesson: k = 20 neighbours in route two, a 50 um radius in route three, and the
triangulation itself in route one. Change any of them and the niches change identity, not just their boundaries.
Section 4.5 demonstrates that directly at k = 5, 20 and 50. Show it if there 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Crop and not the whole slide: 170,057 cells with imagery will not load in a Colab session. This window was
chosen for mixture rather than density -- entropy 0.76 against 0.54 for the densest candidate, which was solid tumour
and would have taught nothing about who stands next to whom.
The Unassigned point is worth thirty seconds. It is a habit, not a detail: the cells a classifier is least sure about
are exactly the ones people delete, and deleting them makes every downstream figure look cleaner than the data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immunology slide of Tutorial 2. Everything before it is setup.
Always show them the positive control. Endothelial and perivascular cells are adjacent by construction, so if that
pair had not come out warm the method would be broken. A reader who checks their own positive control is doing
the analysis; one who reports only the exciting number is doing something else.
Limitation to name before they do: this gives one number per pair of types for the entire Crop. It cannot tell you
that the immune cells are excluded HERE and infiltrating THERE. That is what the niches in Section 4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panel is the input, right panel is the output. Make the room compare them: the niches are not just recoloured
cell types -- "Tumour boundary" and "Proliferating tumour front" are new objects that no single cell carries a label for.
The coherence argument is the one to make carefully. KMeans was given a composition vector per cell and nothing else.
If the labels come back in spatially contiguous blobs, that structure was in the tissue, not in the method.
The Tutorial re-runs this at k = 5, 20 and 50. If there is time, show that figure: the niches genuinely change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black cells in the left panel are the punchline: the interiors of the largest tumour masses are 15+ steps from any
immune cell. The immune compartment presses against the tumour everywhere and penetrates it almost nowhere.
The dendritic-cell result usually gets a reaction. Do not over-read it -- one Crop, one specimen -- but it is exactly the
kind of hypothesis this analysis exists to generate.
Caution to state: compare niches within one buffer setting, never a niche from one analysis against a niche from another.
Roundness around 0.3-0.4 here means interdigitating, infiltrative margins rather than compact nodules.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Tutorial 2 established who stands next to whom. This one asks what they are saying, and the honest answer is that we
are inferring it from two transcripts and a distance.
Set the expectation here rather than in the limitations section at the end. An immunologist knows perfectly well that
CXCL12 mRNA in a fibroblast does not mean CXCL12 protein reached a T cell. Saying it first buys credibility for
everything that follows; saying it last sounds like a hedge.
The framing that works: this is the same epistemic status as a differential-expression hit. Nobody thinks a volcano plot
proves a mechanism, but everybody uses one to decide what to do next. Ligand-receptor inference is that, with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to teach LIANA+ rather than any single tool: you get to see that the choice of scoring function is itself a
variable, instead of inheriting somebody else's.
Notice the two axes in the right-hand column. Some of these reward magnitude -- a lot of signal -- and some reward
specificity -- signal that these two populations have and others do not. They disagree, routinely, and the aggregate
reports both ranks separately for exactly that reason.
The complex point matters clinically. If your panel has ITGAL but not ITGB2, LFA-1 is unevaluable, and no amount of
ITGAL signal will produce it. That is the previous slide's panel argument arriving in code.
Do not claim these are five independent experiments. Five statistics over one matrix share every bias that matrix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matrix is worth reading aloud for thirty seconds, because it previews the answer. Tumour epithelial to T cell is 0.00.
T cell to fibroblast is 0.82. The exclusion is already visible in the geometry, before any ligand-receptor score is computed.
It is directed, and asymmetric for a real reason: it is a mean over sender cells of the weighted distance to receiver cells,
so a rare population near a common one scores differently from the reverse.
Two bandwidths, two scales, and this is the single easiest thing to get wrong in the Tutorial. A per-cell graph wants a
few cell diameters. Between-population mean distances on this Crop span 9 to 224 um, so at 15 um the weighting annihilates
nearly every cross-population score. Hence 30 um here and 15 um in Section 6. Two numbers, two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Tutorial 3 on this slide, not on a result. It is the most transferable thing in the whole Workshop and it costs
nothing to act on.
The four-versus-3,738 gap is not a criticism of the 69-gene panel -- that panel was designed to name cell types and it
does that well. It is a demonstration that panel design silently fixes which questions are answerable, months before
anyone opens a notebook.
Related trap: CSF1_CSF1R and B2M_HLA-F are not in this resource at all. A pair absent from your database is not
refuted -- it is never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top of the left-hand panel out loud -- GNAS to ADCY1, collagens to integrins -- and ask whether anyone would
write a paper about it. That reaction is the lesson.
The consensus is a real strength: no single scoring function gets to decide. But be honest about what it is not.
Five functions over the same expression matrix share every bias that matrix has, abundance most of all.
Methods note if asked: 100 permutations cannot resolve a p-value below 0.01. For publication use 1,000 or more.
We use 100 so the cell finishes in twenty seconds in a teaching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bandwidth arithmetic is the single most useful thing on this slide. People set bandwidth to the distance they
mean and quietly analyse a neighbourhood twice the size they intended. A 30 um hard radius gives a median of 14
neighbours here; a 30 um LIANA bandwidth gives 60.
Mention the ceiling trap only if someone asks why n is 30,469: about a fifth of cross-population rows sit at the
saturation value magnitude_rank = 1.0, and comparing ranks without excluding them manufactures movement that is not there.
The honest summary: adding space does not make the answer more correct, it makes it a different answer under a
different assumption. Say which assumption you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convergence slide. Tutorial 2 found immune exclusion from adjacency alone; Tutorial 3 finds the same
geometry from a completely different statistic on a different gene set. Neither one knew about the other.
Guard against over-reading: Moran's R is not a significance test for signalling. It says the local scores are spatially
structured, which is a much weaker claim than "these cells are talking".
The PD-L1/PD-1 absence is worth naming plainly. It is the pair an immunologist would ask for first, and it is not here
because the transcripts are too sparse to survive the expression filter -- not because the axis is inactive.
And: only 91 plasma cells in this Crop against 1,590 T cells. A missing cell type is a harder limit than a missing gene.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premise is not exotic. Reading molecular state off morphology is what histopathology has always been; the claim here
is only that it can be made numerical and checked.
Why this matters practically: H&amp;E is cheap, universal, and already sitting in every archive. If expression were readable
from it, decades of stored blocks would become a spatial dataset. That is the promise, and Tutorial 4 tests it honestly
rather than selling it.
The paired structure on the right-hand panel is the whole setup. 3,798 spots, 3,798 image patches, 3,798 expression
vectors, and a supervised regression between them.
If someone asks why not use a foundation model: because then you learn nothing about what the model does. We build the
smallest thing that works, and the last slide of the Tutorial names the production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room has heard "Transformer" for three years without ever being told what one is. Fix that here, plainly,
and the architecture slide later needs no explanation at all.
The attention idea in one sentence: each token produces a query, every token produces a key, and the match between them
decides how much of each other token gets mixed in. Nothing more mystical than a weighted average with learned weights.
The [CLS] token is the part worth dwelling on because it is genuinely odd. You add a token that corresponds to nothing in
the input, let it attend to everything for three layers, and then read your answer off it. It works because attention
gives it no reason not to gather.
The Tutorial demonstrates this on five random tokens in about thirty seconds of compute, and prints the 5x5 attention
matrix. That demo converts more people than any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here so the result three slides later is not a surprise. Half the answer is already visible: you cannot
learn a mapping onto a column that is mostly zeros, and two of these four columns are mostly zeros.
Contrast the panels deliberately. KRT8 and COL1A1 are smooth fields -- a model can learn a smooth field. PTPRC and CD3D
are speckle, and speckle at this spot size is close to noise even before the image gets involved.
Per-gene evaluation is the methodological point. A single mean r across sixteen genes would report 0.31 and sound fine.
Splitting it by gene is what turns a mediocre aggregate into a usable statement about which biology is readable.
Z-scoring per gene matters too: without it the loss would be dominated by whichever gene has the largest dynamic range,
and the model would quietly optimise for KRT8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a tile up against the room's intuition: a pathologist looks at exactly this and calls tumour, stroma or lymphocyte.
The question of the Tutorial is whether a model can do it quantitatively, gene by gene.
The resolution argument is measurable, not aesthetic: across four configurations and three seeds, full-resolution tiles
give 0.3198 +/- 0.0060 against 0.3003 +/- 0.0233 from the thumbnail. Better mean, and four times less seed spread.
The obs_names warning is the failure I would most like them to remember. It is silent. Nothing errors, no figure looks
wrong, and the model simply learns nothing because every tile is matched to the wrong spot's 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building it by hand is not the performance -- it is that afterwards they know exactly what UNI, CONCH,
Prov-GigaPath and Virchow are doing inside. Those are the same components at a hundred times the scale.
Be candid about the random split. It leaks: neighbouring Visium spots share tissue, so the held-out r is optimistic.
We keep it because a spatial split costs a slide of explanation, and the conclusion of the Tutorial -- the ranking of
which genes are predictable -- survives it.
CPU and GPU runs differ slightly. Floating-point addition is not associative. Look for stable conclusions, not identical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 bars are the immune markers, and they are picked out in the figure for a reason: this is the immunology punchline
of the entire Workshop.
Take the three reasons in order. Dropout -- you cannot learn a mapping onto a column that is mostly zeros. Resolution --
three T cells among seven tumour cells give a spot that is transcriptionally mostly tumour. Ambiguity -- even a perfect
image does not distinguish the lymphocyte subsets, because the distinguishing information is not optical.
Only the third is a hard limit. The first two get better with deeper sequencing and smaller spots; the third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right-hand panels, not the left-hand ones. Top right has structure; bottom right is uniform pink.
The model has given up and is predicting roughly the mean for every spot, which is the rational thing to do when the
input carries no information about the target.
This is the slide to end the Tutorial on. It is not a negative result -- knowing the shape of the failure is what makes
the method usable. Structural compartments: yes. Immune infiltration: no, and predictably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here. Do not add an outlook slide.
The three failures were not arranged -- they fell out of three unrelated analyses on three different gene sets, and
they land in the same place because immune cells are sparse, small, and morphologically ambiguous. That is a property
of the biology and the measurement, not of any one tool.
The Workshop is not arguing that spatial omics cannot do immunology. It is arguing that the failure modes are
knowable in advance, and that a Participant who can predict where a method will break can design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Thank 10x Genomics out loud. None of this Workshop exists without their public data, and the Atera preview in
particular is pre-release chemistry they did not have to release at all.
The repo is public and MIT licensed. Anyone can teach from it, and the notebooks contain far more prose than we
reached today -- point people there rather than trying to answer everything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QIMR">
    <p:bg>
      <p:bgPr>
        <a:solidFill>
          <a:srgbClr val="FFFFFF"/>
        </a:solidFill>
      </p:bgPr>
    </p:bg>
    <p:spTree>
      <p:nvGrpSpPr>
        <p:cNvPr id="1" name=""/>
        <p:cNvGrpSpPr/>
        <p:nvPr/>
      </p:nvGrpSpPr>
      <p:grpSpPr>
        <a:xfrm>
          <a:off x="0" y="0"/>
          <a:ext cx="0" cy="0"/>
          <a:chOff x="0" y="0"/>
          <a:chExt cx="0" cy="0"/>
        </a:xfrm>
      </p:grpSpPr>
      <p:pic>
        <p:nvPicPr>
          <p:cNvPr id="2" name="Image 0" descr="/home/uqxtan9/.claude/skills/academic-pptx/assets/qimr_logo.png">    </p:cNvPr>
          <p:cNvPicPr>
            <a:picLocks noChangeAspect="1"/>
          </p:cNvPicPr>
          <p:nvPr/>
        </p:nvPicPr>
        <p:blipFill>
          <a:blip r:embed="rId1"/>
          <a:stretch>
            <a:fillRect/>
          </a:stretch>
        </p:blipFill>
        <p:spPr>
          <a:xfrm>
            <a:off x="173736" y="73152"/>
            <a:ext cx="1792224" cy="423733"/>
          </a:xfrm>
          <a:prstGeom prst="rect">
            <a:avLst/>
          </a:prstGeom>
        </p:spPr>
      </p:pic>
      <p:sp>
        <p:nvSpPr>
          <p:cNvPr id="3" name="Text 0"/>
          <p:cNvSpPr/>
          <p:nvPr/>
        </p:nvSpPr>
        <p:spPr>
          <a:xfrm>
            <a:off x="4169664" y="6355080"/>
            <a:ext cx="6912864" cy="365760"/>
          </a:xfrm>
          <a:prstGeom prst="rect">
            <a:avLst/>
          </a:prstGeom>
          <a:noFill/>
          <a:ln/>
        </p:spPr>
        <p:txBody>
          <a:bodyPr wrap="square" lIns="0" tIns="0" rIns="0" bIns="0" rtlCol="0" anchor="ctr"/>
          <a:lstStyle/>
          <a:p>
            <a:pPr algn="r" indent="0" marL="0">
              <a:buNone/>
            </a:pPr>
            <a:r>
              <a:rPr lang="en-US" sz="1000" dirty="0">
                <a:solidFill>
                  <a:srgbClr val="595959"/>
                </a:solidFill>
                <a:latin typeface="Arial" pitchFamily="34" charset="0"/>
                <a:ea typeface="Arial" pitchFamily="34" charset="-122"/>
                <a:cs typeface="Arial" pitchFamily="34" charset="-120"/>
              </a:rPr>
              <a:t>© QIMR Berghofer Medical Research Institute   |</a:t>
            </a:r>
            <a:endParaRPr lang="en-US" sz="10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417320"/>
            <a:ext cx="11247120" cy="1737360"/>
          </a:xfrm>
          <a:prstGeom prst="rect">
            <a:avLst/>
          </a:prstGeom>
          <a:noFill/>
          <a:ln/>
        </p:spPr>
        <p:txBody>
          <a:bodyPr wrap="square" rtlCol="0" anchor="t"/>
          <a:lstStyle/>
          <a:p>
            <a:pPr algn="l" indent="0" marL="0">
              <a:buNone/>
            </a:pPr>
            <a:r>
              <a:rPr lang="en-US" sz="4000" b="1" dirty="0">
                <a:solidFill>
                  <a:srgbClr val="C00000"/>
                </a:solidFill>
                <a:latin typeface="Arial" pitchFamily="34" charset="0"/>
                <a:ea typeface="Arial" pitchFamily="34" charset="-122"/>
                <a:cs typeface="Arial" pitchFamily="34" charset="-120"/>
              </a:rPr>
              <a:t>Spatial omics, hands-on:</a:t>
            </a:r>
            <a:endParaRPr lang="en-US" sz="4000" dirty="0"/>
          </a:p>
          <a:p>
            <a:pPr algn="l" indent="0" marL="0">
              <a:buNone/>
            </a:pPr>
            <a:r>
              <a:rPr lang="en-US" sz="4000" b="1" dirty="0">
                <a:solidFill>
                  <a:srgbClr val="C00000"/>
                </a:solidFill>
                <a:latin typeface="Arial" pitchFamily="34" charset="0"/>
                <a:ea typeface="Arial" pitchFamily="34" charset="-122"/>
                <a:cs typeface="Arial" pitchFamily="34" charset="-120"/>
              </a:rPr>
              <a:t>one disease, three technologies</a:t>
            </a:r>
            <a:endParaRPr lang="en-US" sz="4000" dirty="0"/>
          </a:p>
        </p:txBody>
      </p:sp>
      <p:sp>
        <p:nvSpPr>
          <p:cNvPr id="3" name="Text 1"/>
          <p:cNvSpPr/>
          <p:nvPr/>
        </p:nvSpPr>
        <p:spPr>
          <a:xfrm>
            <a:off x="457200" y="3611880"/>
            <a:ext cx="11247120" cy="1463040"/>
          </a:xfrm>
          <a:prstGeom prst="rect">
            <a:avLst/>
          </a:prstGeom>
          <a:noFill/>
          <a:ln/>
        </p:spPr>
        <p:txBody>
          <a:bodyPr wrap="square" rtlCol="0" anchor="t"/>
          <a:lstStyle/>
          <a:p>
            <a:pPr algn="l" indent="0" marL="0">
              <a:buNone/>
            </a:pPr>
            <a:r>
              <a:rPr lang="en-US" sz="1800" b="1" dirty="0">
                <a:solidFill>
                  <a:srgbClr val="000000"/>
                </a:solidFill>
                <a:latin typeface="Arial" pitchFamily="34" charset="0"/>
                <a:ea typeface="Arial" pitchFamily="34" charset="-122"/>
                <a:cs typeface="Arial" pitchFamily="34" charset="-120"/>
              </a:rPr>
              <a:t>Xiao Tan</a:t>
            </a:r>
            <a:endParaRPr lang="en-US" sz="1800" dirty="0"/>
          </a:p>
          <a:p>
            <a:pPr algn="l" indent="0" marL="0">
              <a:buNone/>
            </a:pPr>
            <a:r>
              <a:rPr lang="en-US" sz="1800" dirty="0">
                <a:solidFill>
                  <a:srgbClr val="000000"/>
                </a:solidFill>
                <a:latin typeface="Arial" pitchFamily="34" charset="0"/>
                <a:ea typeface="Arial" pitchFamily="34" charset="-122"/>
                <a:cs typeface="Arial" pitchFamily="34" charset="-120"/>
              </a:rPr>
              <a:t>Genomics and Machine Learning Lab</a:t>
            </a:r>
            <a:endParaRPr lang="en-US" sz="1800" dirty="0"/>
          </a:p>
          <a:p>
            <a:pPr algn="l" indent="0" marL="0">
              <a:buNone/>
            </a:pPr>
            <a:r>
              <a:rPr lang="en-US" sz="1800" dirty="0">
                <a:solidFill>
                  <a:srgbClr val="000000"/>
                </a:solidFill>
                <a:latin typeface="Arial" pitchFamily="34" charset="0"/>
                <a:ea typeface="Arial" pitchFamily="34" charset="-122"/>
                <a:cs typeface="Arial" pitchFamily="34" charset="-120"/>
              </a:rPr>
              <a:t>QIMR Berghofer Medical Research Institute</a:t>
            </a:r>
            <a:endParaRPr lang="en-US" sz="1800" dirty="0"/>
          </a:p>
          <a:p>
            <a:pPr algn="l" indent="0" marL="0">
              <a:buNone/>
            </a:pPr>
            <a:r>
              <a:rPr lang="en-US" sz="1800" dirty="0">
                <a:solidFill>
                  <a:srgbClr val="000000"/>
                </a:solidFill>
                <a:latin typeface="Arial" pitchFamily="34" charset="0"/>
                <a:ea typeface="Arial" pitchFamily="34" charset="-122"/>
                <a:cs typeface="Arial" pitchFamily="34" charset="-120"/>
              </a:rPr>
              <a:t>The University of Queensland</a:t>
            </a:r>
            <a:endParaRPr lang="en-US" sz="1800" dirty="0"/>
          </a:p>
        </p:txBody>
      </p:sp>
      <p:sp>
        <p:nvSpPr>
          <p:cNvPr id="4" name="Text 2"/>
          <p:cNvSpPr/>
          <p:nvPr/>
        </p:nvSpPr>
        <p:spPr>
          <a:xfrm>
            <a:off x="457200" y="5166360"/>
            <a:ext cx="11247120" cy="365760"/>
          </a:xfrm>
          <a:prstGeom prst="rect">
            <a:avLst/>
          </a:prstGeom>
          <a:noFill/>
          <a:ln/>
        </p:spPr>
        <p:txBody>
          <a:bodyPr wrap="square" rtlCol="0" anchor="t"/>
          <a:lstStyle/>
          <a:p>
            <a:pPr algn="l" indent="0" marL="0">
              <a:buNone/>
            </a:pPr>
            <a:r>
              <a:rPr lang="en-US" sz="1400" dirty="0">
                <a:solidFill>
                  <a:srgbClr val="595959"/>
                </a:solidFill>
                <a:latin typeface="Arial" pitchFamily="34" charset="0"/>
                <a:ea typeface="Arial" pitchFamily="34" charset="-122"/>
                <a:cs typeface="Arial" pitchFamily="34" charset="-120"/>
              </a:rPr>
              <a:t>ASI-FIMSA 2026  ·  two-hour Workshop  ·  everything runs in Google Colab</a:t>
            </a:r>
            <a:endParaRPr lang="en-US" sz="14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Four Tutorials, two hours, one disease seen three ways</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1207008"/>
          <a:ext cx="10908792" cy="914400"/>
        </p:xfrm>
        <a:graphic>
          <a:graphicData uri="http://schemas.openxmlformats.org/drawingml/2006/table">
            <a:tbl>
              <a:tblPr/>
              <a:tblGrid>
                <a:gridCol w="2788920"/>
                <a:gridCol w="6656832"/>
                <a:gridCol w="1463040"/>
              </a:tblGrid>
              <a:tr h="566928">
                <a:tc>
                  <a:txBody>
                    <a:bodyPr/>
                    <a:lstStyle/>
                    <a:p>
                      <a:pPr indent="0" marL="0">
                        <a:buNone/>
                      </a:pPr>
                      <a:r>
                        <a:rPr lang="en-US" sz="1500" b="1" dirty="0">
                          <a:solidFill>
                            <a:srgbClr val="FFFFFF"/>
                          </a:solidFill>
                          <a:latin typeface="Arial" pitchFamily="34" charset="0"/>
                          <a:ea typeface="Arial" pitchFamily="34" charset="-122"/>
                          <a:cs typeface="Arial" pitchFamily="34" charset="-120"/>
                        </a:rPr>
                        <a:t>Notebook</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What you do</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Time</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r>
              <a:tr h="566928">
                <a:tc>
                  <a:txBody>
                    <a:bodyPr/>
                    <a:lstStyle/>
                    <a:p>
                      <a:pPr indent="0" marL="0">
                        <a:buNone/>
                      </a:pPr>
                      <a:r>
                        <a:rPr lang="en-US" sz="1500" b="1" dirty="0">
                          <a:solidFill>
                            <a:srgbClr val="000000"/>
                          </a:solidFill>
                          <a:latin typeface="Arial" pitchFamily="34" charset="0"/>
                          <a:ea typeface="Arial" pitchFamily="34" charset="-122"/>
                          <a:cs typeface="Arial" pitchFamily="34" charset="-120"/>
                        </a:rPr>
                        <a:t>00 · Setup check</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Confirms Colab can install the stack and reach the data. Run it at home, not in the room.</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~10 min</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66928">
                <a:tc>
                  <a:txBody>
                    <a:bodyPr/>
                    <a:lstStyle/>
                    <a:p>
                      <a:pPr indent="0" marL="0">
                        <a:buNone/>
                      </a:pPr>
                      <a:r>
                        <a:rPr lang="en-US" sz="1500" b="1" dirty="0">
                          <a:solidFill>
                            <a:srgbClr val="000000"/>
                          </a:solidFill>
                          <a:latin typeface="Arial" pitchFamily="34" charset="0"/>
                          <a:ea typeface="Arial" pitchFamily="34" charset="-122"/>
                          <a:cs typeface="Arial" pitchFamily="34" charset="-120"/>
                        </a:rPr>
                        <a:t>01 · Read and visualise</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Load and plot Visium spots, Xenium cells and the whole-transcriptome Atera run.</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~35 min</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66928">
                <a:tc>
                  <a:txBody>
                    <a:bodyPr/>
                    <a:lstStyle/>
                    <a:p>
                      <a:pPr indent="0" marL="0">
                        <a:buNone/>
                      </a:pPr>
                      <a:r>
                        <a:rPr lang="en-US" sz="1500" b="1" dirty="0">
                          <a:solidFill>
                            <a:srgbClr val="000000"/>
                          </a:solidFill>
                          <a:latin typeface="Arial" pitchFamily="34" charset="0"/>
                          <a:ea typeface="Arial" pitchFamily="34" charset="-122"/>
                          <a:cs typeface="Arial" pitchFamily="34" charset="-120"/>
                        </a:rPr>
                        <a:t>02 · Niche analysis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Find the niches of a tumour microenvironment from which cells sit next to which.</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~35 min</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66928">
                <a:tc>
                  <a:txBody>
                    <a:bodyPr/>
                    <a:lstStyle/>
                    <a:p>
                      <a:pPr indent="0" marL="0">
                        <a:buNone/>
                      </a:pPr>
                      <a:r>
                        <a:rPr lang="en-US" sz="1500" b="1" dirty="0">
                          <a:solidFill>
                            <a:srgbClr val="000000"/>
                          </a:solidFill>
                          <a:latin typeface="Arial" pitchFamily="34" charset="0"/>
                          <a:ea typeface="Arial" pitchFamily="34" charset="-122"/>
                          <a:cs typeface="Arial" pitchFamily="34" charset="-120"/>
                        </a:rPr>
                        <a:t>03 · Cell–cell interaction</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LIANA+'s consensus ligand–receptor test on the same cells.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~30 min</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66928">
                <a:tc>
                  <a:txBody>
                    <a:bodyPr/>
                    <a:lstStyle/>
                    <a:p>
                      <a:pPr indent="0" marL="0">
                        <a:buNone/>
                      </a:pPr>
                      <a:r>
                        <a:rPr lang="en-US" sz="1500" b="1" dirty="0">
                          <a:solidFill>
                            <a:srgbClr val="000000"/>
                          </a:solidFill>
                          <a:latin typeface="Arial" pitchFamily="34" charset="0"/>
                          <a:ea typeface="Arial" pitchFamily="34" charset="-122"/>
                          <a:cs typeface="Arial" pitchFamily="34" charset="-120"/>
                        </a:rPr>
                        <a:t>04 · ViT for gene expression</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Train a Vision Transformer that predicts expression from H&amp;E alone.</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~40 min</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bl>
          </a:graphicData>
        </a:graphic>
      </p:graphicFrame>
      <p:sp>
        <p:nvSpPr>
          <p:cNvPr id="4" name="Text 1"/>
          <p:cNvSpPr/>
          <p:nvPr/>
        </p:nvSpPr>
        <p:spPr>
          <a:xfrm>
            <a:off x="640080" y="5074920"/>
            <a:ext cx="10908792" cy="777240"/>
          </a:xfrm>
          <a:prstGeom prst="rect">
            <a:avLst/>
          </a:prstGeom>
          <a:noFill/>
          <a:ln/>
        </p:spPr>
        <p:txBody>
          <a:bodyPr wrap="square" lIns="0" tIns="0" rIns="0" bIns="0" rtlCol="0" anchor="t"/>
          <a:lstStyle/>
          <a:p>
            <a:pPr indent="0" marL="0">
              <a:buNone/>
            </a:pPr>
            <a:r>
              <a:rPr lang="en-US" sz="1700" dirty="0">
                <a:solidFill>
                  <a:srgbClr val="000000"/>
                </a:solidFill>
                <a:latin typeface="Arial" pitchFamily="34" charset="0"/>
                <a:ea typeface="Arial" pitchFamily="34" charset="-122"/>
                <a:cs typeface="Arial" pitchFamily="34" charset="-120"/>
              </a:rPr>
              <a:t>Every Tutorial is self-contained and one click from the README:</a:t>
            </a:r>
            <a:endParaRPr lang="en-US" sz="1700" dirty="0"/>
          </a:p>
          <a:p>
            <a:pPr indent="0" marL="0">
              <a:buNone/>
            </a:pPr>
            <a:r>
              <a:rPr lang="en-US" sz="1700" b="1" dirty="0">
                <a:solidFill>
                  <a:srgbClr val="000000"/>
                </a:solidFill>
                <a:latin typeface="Arial" pitchFamily="34" charset="0"/>
                <a:ea typeface="Arial" pitchFamily="34" charset="-122"/>
                <a:cs typeface="Arial" pitchFamily="34" charset="-120"/>
              </a:rPr>
              <a:t>github.com/xiao233333/ASI-FIMSA-workshop-2026</a:t>
            </a:r>
            <a:endParaRPr lang="en-US" sz="17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One click opens it; Runtime → Run all does the rest</a:t>
            </a:r>
            <a:endParaRPr lang="en-US" sz="2400" dirty="0"/>
          </a:p>
        </p:txBody>
      </p:sp>
      <p:sp>
        <p:nvSpPr>
          <p:cNvPr id="3" name="Shape 1"/>
          <p:cNvSpPr/>
          <p:nvPr/>
        </p:nvSpPr>
        <p:spPr>
          <a:xfrm>
            <a:off x="640080" y="1161288"/>
            <a:ext cx="2548890" cy="1755648"/>
          </a:xfrm>
          <a:prstGeom prst="roundRect">
            <a:avLst>
              <a:gd name="adj" fmla="val 3646"/>
            </a:avLst>
          </a:prstGeom>
          <a:solidFill>
            <a:srgbClr val="F2F2F2"/>
          </a:solidFill>
          <a:ln w="12700">
            <a:solidFill>
              <a:srgbClr val="F2F2F2"/>
            </a:solidFill>
            <a:prstDash val="solid"/>
          </a:ln>
        </p:spPr>
      </p:sp>
      <p:sp>
        <p:nvSpPr>
          <p:cNvPr id="4" name="Text 2"/>
          <p:cNvSpPr/>
          <p:nvPr/>
        </p:nvSpPr>
        <p:spPr>
          <a:xfrm>
            <a:off x="804672" y="1289304"/>
            <a:ext cx="2219706" cy="347472"/>
          </a:xfrm>
          <a:prstGeom prst="rect">
            <a:avLst/>
          </a:prstGeom>
          <a:noFill/>
          <a:ln/>
        </p:spPr>
        <p:txBody>
          <a:bodyPr wrap="square" lIns="0" tIns="0" rIns="0" bIns="0" rtlCol="0" anchor="t"/>
          <a:lstStyle/>
          <a:p>
            <a:pPr indent="0" marL="0">
              <a:buNone/>
            </a:pPr>
            <a:r>
              <a:rPr lang="en-US" sz="2000" b="1" dirty="0">
                <a:solidFill>
                  <a:srgbClr val="C00000"/>
                </a:solidFill>
                <a:latin typeface="Arial" pitchFamily="34" charset="0"/>
                <a:ea typeface="Arial" pitchFamily="34" charset="-122"/>
                <a:cs typeface="Arial" pitchFamily="34" charset="-120"/>
              </a:rPr>
              <a:t>1</a:t>
            </a:r>
            <a:endParaRPr lang="en-US" sz="2000" dirty="0"/>
          </a:p>
        </p:txBody>
      </p:sp>
      <p:sp>
        <p:nvSpPr>
          <p:cNvPr id="5" name="Text 3"/>
          <p:cNvSpPr/>
          <p:nvPr/>
        </p:nvSpPr>
        <p:spPr>
          <a:xfrm>
            <a:off x="804672" y="1609344"/>
            <a:ext cx="2219706" cy="420624"/>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Click the badge</a:t>
            </a:r>
            <a:endParaRPr lang="en-US" sz="1600" dirty="0"/>
          </a:p>
        </p:txBody>
      </p:sp>
      <p:sp>
        <p:nvSpPr>
          <p:cNvPr id="6" name="Text 4"/>
          <p:cNvSpPr/>
          <p:nvPr/>
        </p:nvSpPr>
        <p:spPr>
          <a:xfrm>
            <a:off x="804672" y="2066544"/>
            <a:ext cx="2219706" cy="704088"/>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One per Tutorial in the README. Opens in your browser.</a:t>
            </a:r>
            <a:endParaRPr lang="en-US" sz="1400" dirty="0"/>
          </a:p>
        </p:txBody>
      </p:sp>
      <p:sp>
        <p:nvSpPr>
          <p:cNvPr id="7" name="Shape 5"/>
          <p:cNvSpPr/>
          <p:nvPr/>
        </p:nvSpPr>
        <p:spPr>
          <a:xfrm>
            <a:off x="3426714" y="1161288"/>
            <a:ext cx="2548890" cy="1755648"/>
          </a:xfrm>
          <a:prstGeom prst="roundRect">
            <a:avLst>
              <a:gd name="adj" fmla="val 3646"/>
            </a:avLst>
          </a:prstGeom>
          <a:solidFill>
            <a:srgbClr val="F2F2F2"/>
          </a:solidFill>
          <a:ln w="12700">
            <a:solidFill>
              <a:srgbClr val="F2F2F2"/>
            </a:solidFill>
            <a:prstDash val="solid"/>
          </a:ln>
        </p:spPr>
      </p:sp>
      <p:sp>
        <p:nvSpPr>
          <p:cNvPr id="8" name="Text 6"/>
          <p:cNvSpPr/>
          <p:nvPr/>
        </p:nvSpPr>
        <p:spPr>
          <a:xfrm>
            <a:off x="3591306" y="1289304"/>
            <a:ext cx="2219706" cy="347472"/>
          </a:xfrm>
          <a:prstGeom prst="rect">
            <a:avLst/>
          </a:prstGeom>
          <a:noFill/>
          <a:ln/>
        </p:spPr>
        <p:txBody>
          <a:bodyPr wrap="square" lIns="0" tIns="0" rIns="0" bIns="0" rtlCol="0" anchor="t"/>
          <a:lstStyle/>
          <a:p>
            <a:pPr indent="0" marL="0">
              <a:buNone/>
            </a:pPr>
            <a:r>
              <a:rPr lang="en-US" sz="2000" b="1" dirty="0">
                <a:solidFill>
                  <a:srgbClr val="C00000"/>
                </a:solidFill>
                <a:latin typeface="Arial" pitchFamily="34" charset="0"/>
                <a:ea typeface="Arial" pitchFamily="34" charset="-122"/>
                <a:cs typeface="Arial" pitchFamily="34" charset="-120"/>
              </a:rPr>
              <a:t>2</a:t>
            </a:r>
            <a:endParaRPr lang="en-US" sz="2000" dirty="0"/>
          </a:p>
        </p:txBody>
      </p:sp>
      <p:sp>
        <p:nvSpPr>
          <p:cNvPr id="9" name="Text 7"/>
          <p:cNvSpPr/>
          <p:nvPr/>
        </p:nvSpPr>
        <p:spPr>
          <a:xfrm>
            <a:off x="3591306" y="1609344"/>
            <a:ext cx="2219706" cy="420624"/>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Runtime → Run all</a:t>
            </a:r>
            <a:endParaRPr lang="en-US" sz="1600" dirty="0"/>
          </a:p>
        </p:txBody>
      </p:sp>
      <p:sp>
        <p:nvSpPr>
          <p:cNvPr id="10" name="Text 8"/>
          <p:cNvSpPr/>
          <p:nvPr/>
        </p:nvSpPr>
        <p:spPr>
          <a:xfrm>
            <a:off x="3591306" y="2066544"/>
            <a:ext cx="2219706" cy="704088"/>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Then wait. There is nothing else to click.</a:t>
            </a:r>
            <a:endParaRPr lang="en-US" sz="1400" dirty="0"/>
          </a:p>
        </p:txBody>
      </p:sp>
      <p:sp>
        <p:nvSpPr>
          <p:cNvPr id="11" name="Shape 9"/>
          <p:cNvSpPr/>
          <p:nvPr/>
        </p:nvSpPr>
        <p:spPr>
          <a:xfrm>
            <a:off x="6213348" y="1161288"/>
            <a:ext cx="2548890" cy="1755648"/>
          </a:xfrm>
          <a:prstGeom prst="roundRect">
            <a:avLst>
              <a:gd name="adj" fmla="val 3646"/>
            </a:avLst>
          </a:prstGeom>
          <a:solidFill>
            <a:srgbClr val="F2F2F2"/>
          </a:solidFill>
          <a:ln w="12700">
            <a:solidFill>
              <a:srgbClr val="F2F2F2"/>
            </a:solidFill>
            <a:prstDash val="solid"/>
          </a:ln>
        </p:spPr>
      </p:sp>
      <p:sp>
        <p:nvSpPr>
          <p:cNvPr id="12" name="Text 10"/>
          <p:cNvSpPr/>
          <p:nvPr/>
        </p:nvSpPr>
        <p:spPr>
          <a:xfrm>
            <a:off x="6377940" y="1289304"/>
            <a:ext cx="2219706" cy="347472"/>
          </a:xfrm>
          <a:prstGeom prst="rect">
            <a:avLst/>
          </a:prstGeom>
          <a:noFill/>
          <a:ln/>
        </p:spPr>
        <p:txBody>
          <a:bodyPr wrap="square" lIns="0" tIns="0" rIns="0" bIns="0" rtlCol="0" anchor="t"/>
          <a:lstStyle/>
          <a:p>
            <a:pPr indent="0" marL="0">
              <a:buNone/>
            </a:pPr>
            <a:r>
              <a:rPr lang="en-US" sz="2000" b="1" dirty="0">
                <a:solidFill>
                  <a:srgbClr val="C00000"/>
                </a:solidFill>
                <a:latin typeface="Arial" pitchFamily="34" charset="0"/>
                <a:ea typeface="Arial" pitchFamily="34" charset="-122"/>
                <a:cs typeface="Arial" pitchFamily="34" charset="-120"/>
              </a:rPr>
              <a:t>3</a:t>
            </a:r>
            <a:endParaRPr lang="en-US" sz="2000" dirty="0"/>
          </a:p>
        </p:txBody>
      </p:sp>
      <p:sp>
        <p:nvSpPr>
          <p:cNvPr id="13" name="Text 11"/>
          <p:cNvSpPr/>
          <p:nvPr/>
        </p:nvSpPr>
        <p:spPr>
          <a:xfrm>
            <a:off x="6377940" y="1609344"/>
            <a:ext cx="2219706" cy="420624"/>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The install cell</a:t>
            </a:r>
            <a:endParaRPr lang="en-US" sz="1600" dirty="0"/>
          </a:p>
        </p:txBody>
      </p:sp>
      <p:sp>
        <p:nvSpPr>
          <p:cNvPr id="14" name="Text 12"/>
          <p:cNvSpPr/>
          <p:nvPr/>
        </p:nvSpPr>
        <p:spPr>
          <a:xfrm>
            <a:off x="6377940" y="2066544"/>
            <a:ext cx="2219706" cy="704088"/>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About two minutes. It runs once per session.</a:t>
            </a:r>
            <a:endParaRPr lang="en-US" sz="1400" dirty="0"/>
          </a:p>
        </p:txBody>
      </p:sp>
      <p:sp>
        <p:nvSpPr>
          <p:cNvPr id="15" name="Shape 13"/>
          <p:cNvSpPr/>
          <p:nvPr/>
        </p:nvSpPr>
        <p:spPr>
          <a:xfrm>
            <a:off x="8999982" y="1161288"/>
            <a:ext cx="2548890" cy="1755648"/>
          </a:xfrm>
          <a:prstGeom prst="roundRect">
            <a:avLst>
              <a:gd name="adj" fmla="val 3646"/>
            </a:avLst>
          </a:prstGeom>
          <a:solidFill>
            <a:srgbClr val="F2F2F2"/>
          </a:solidFill>
          <a:ln w="12700">
            <a:solidFill>
              <a:srgbClr val="F2F2F2"/>
            </a:solidFill>
            <a:prstDash val="solid"/>
          </a:ln>
        </p:spPr>
      </p:sp>
      <p:sp>
        <p:nvSpPr>
          <p:cNvPr id="16" name="Text 14"/>
          <p:cNvSpPr/>
          <p:nvPr/>
        </p:nvSpPr>
        <p:spPr>
          <a:xfrm>
            <a:off x="9164574" y="1289304"/>
            <a:ext cx="2219706" cy="347472"/>
          </a:xfrm>
          <a:prstGeom prst="rect">
            <a:avLst/>
          </a:prstGeom>
          <a:noFill/>
          <a:ln/>
        </p:spPr>
        <p:txBody>
          <a:bodyPr wrap="square" lIns="0" tIns="0" rIns="0" bIns="0" rtlCol="0" anchor="t"/>
          <a:lstStyle/>
          <a:p>
            <a:pPr indent="0" marL="0">
              <a:buNone/>
            </a:pPr>
            <a:r>
              <a:rPr lang="en-US" sz="2000" b="1" dirty="0">
                <a:solidFill>
                  <a:srgbClr val="C00000"/>
                </a:solidFill>
                <a:latin typeface="Arial" pitchFamily="34" charset="0"/>
                <a:ea typeface="Arial" pitchFamily="34" charset="-122"/>
                <a:cs typeface="Arial" pitchFamily="34" charset="-120"/>
              </a:rPr>
              <a:t>4</a:t>
            </a:r>
            <a:endParaRPr lang="en-US" sz="2000" dirty="0"/>
          </a:p>
        </p:txBody>
      </p:sp>
      <p:sp>
        <p:nvSpPr>
          <p:cNvPr id="17" name="Text 15"/>
          <p:cNvSpPr/>
          <p:nvPr/>
        </p:nvSpPr>
        <p:spPr>
          <a:xfrm>
            <a:off x="9164574" y="1609344"/>
            <a:ext cx="2219706" cy="420624"/>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Read downwards</a:t>
            </a:r>
            <a:endParaRPr lang="en-US" sz="1600" dirty="0"/>
          </a:p>
        </p:txBody>
      </p:sp>
      <p:sp>
        <p:nvSpPr>
          <p:cNvPr id="18" name="Text 16"/>
          <p:cNvSpPr/>
          <p:nvPr/>
        </p:nvSpPr>
        <p:spPr>
          <a:xfrm>
            <a:off x="9164574" y="2066544"/>
            <a:ext cx="2219706" cy="704088"/>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Every cell is explained in the text above it.</a:t>
            </a:r>
            <a:endParaRPr lang="en-US" sz="1400" dirty="0"/>
          </a:p>
        </p:txBody>
      </p:sp>
      <p:sp>
        <p:nvSpPr>
          <p:cNvPr id="19" name="Text 17"/>
          <p:cNvSpPr/>
          <p:nvPr/>
        </p:nvSpPr>
        <p:spPr>
          <a:xfrm>
            <a:off x="640080" y="3182112"/>
            <a:ext cx="6492240" cy="2468880"/>
          </a:xfrm>
          <a:prstGeom prst="rect">
            <a:avLst/>
          </a:prstGeom>
          <a:noFill/>
          <a:ln/>
        </p:spPr>
        <p:txBody>
          <a:bodyPr wrap="square" lIns="0" tIns="0" rIns="0" bIns="0" rtlCol="0" anchor="t"/>
          <a:lstStyle/>
          <a:p>
            <a:pPr algn="l" marL="228600" indent="-2286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You need a Google account. Colab is free and needs no card.</a:t>
            </a:r>
            <a:endParaRPr lang="en-US" sz="1700" dirty="0"/>
          </a:p>
          <a:p>
            <a:pPr algn="l" marL="228600" indent="-2286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Run 00 · Setup check at home. It downloads about 300 MB, which conference wifi may not enjoy.</a:t>
            </a:r>
            <a:endParaRPr lang="en-US" sz="1700" dirty="0"/>
          </a:p>
          <a:p>
            <a:pPr algn="l" marL="228600" indent="-2286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Nothing is saved to your Google Drive unless you ask for it.</a:t>
            </a:r>
            <a:endParaRPr lang="en-US" sz="1700" dirty="0"/>
          </a:p>
        </p:txBody>
      </p:sp>
      <p:pic>
        <p:nvPicPr>
          <p:cNvPr id="20" name="Image 0" descr="/scratch/user/uqxtan9/analysis_project/ASI_FIMSA_workshop/slides/figures/nb00_blobs.png">    </p:cNvPr>
          <p:cNvPicPr>
            <a:picLocks noChangeAspect="1"/>
          </p:cNvPicPr>
          <p:nvPr/>
        </p:nvPicPr>
        <p:blipFill>
          <a:blip r:embed="rId1"/>
          <a:stretch>
            <a:fillRect/>
          </a:stretch>
        </p:blipFill>
        <p:spPr>
          <a:xfrm>
            <a:off x="8188989" y="3127248"/>
            <a:ext cx="2458662" cy="2331720"/>
          </a:xfrm>
          <a:prstGeom prst="rect">
            <a:avLst/>
          </a:prstGeom>
        </p:spPr>
      </p:pic>
      <p:sp>
        <p:nvSpPr>
          <p:cNvPr id="21" name="Text 18"/>
          <p:cNvSpPr/>
          <p:nvPr/>
        </p:nvSpPr>
        <p:spPr>
          <a:xfrm>
            <a:off x="7498080" y="5522976"/>
            <a:ext cx="3840480" cy="27432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Setup check, Step 3b</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If pip replaces a package, restart the session</a:t>
            </a:r>
            <a:endParaRPr lang="en-US" sz="2400" dirty="0"/>
          </a:p>
        </p:txBody>
      </p:sp>
      <p:sp>
        <p:nvSpPr>
          <p:cNvPr id="3" name="Shape 1"/>
          <p:cNvSpPr/>
          <p:nvPr/>
        </p:nvSpPr>
        <p:spPr>
          <a:xfrm>
            <a:off x="640080" y="1188720"/>
            <a:ext cx="10908792" cy="960120"/>
          </a:xfrm>
          <a:prstGeom prst="roundRect">
            <a:avLst>
              <a:gd name="adj" fmla="val 5714"/>
            </a:avLst>
          </a:prstGeom>
          <a:solidFill>
            <a:srgbClr val="F2F2F2"/>
          </a:solidFill>
          <a:ln w="12700">
            <a:solidFill>
              <a:srgbClr val="F2F2F2"/>
            </a:solidFill>
            <a:prstDash val="solid"/>
          </a:ln>
        </p:spPr>
      </p:sp>
      <p:sp>
        <p:nvSpPr>
          <p:cNvPr id="4" name="Text 2"/>
          <p:cNvSpPr/>
          <p:nvPr/>
        </p:nvSpPr>
        <p:spPr>
          <a:xfrm>
            <a:off x="914400" y="1298448"/>
            <a:ext cx="10360152" cy="777240"/>
          </a:xfrm>
          <a:prstGeom prst="rect">
            <a:avLst/>
          </a:prstGeom>
          <a:noFill/>
          <a:ln/>
        </p:spPr>
        <p:txBody>
          <a:bodyPr wrap="square" lIns="0" tIns="0" rIns="0" bIns="0" rtlCol="0" anchor="t"/>
          <a:lstStyle/>
          <a:p>
            <a:pPr indent="0" marL="0">
              <a:buNone/>
            </a:pPr>
            <a:r>
              <a:rPr lang="en-US" sz="1700" b="1" dirty="0">
                <a:solidFill>
                  <a:srgbClr val="000000"/>
                </a:solidFill>
                <a:latin typeface="Courier New" pitchFamily="34" charset="0"/>
                <a:ea typeface="Courier New" pitchFamily="34" charset="-122"/>
                <a:cs typeface="Courier New" pitchFamily="34" charset="-120"/>
              </a:rPr>
              <a:t>PLEASE RESTART THE SESSION, THEN RUN THIS NOTEBOOK AGAIN FROM THE TOP.</a:t>
            </a:r>
            <a:endParaRPr lang="en-US" sz="1700" dirty="0"/>
          </a:p>
          <a:p>
            <a:pPr indent="0" marL="0">
              <a:buNone/>
            </a:pPr>
            <a:r>
              <a:rPr lang="en-US" sz="1700" dirty="0">
                <a:solidFill>
                  <a:srgbClr val="000000"/>
                </a:solidFill>
                <a:latin typeface="Courier New" pitchFamily="34" charset="0"/>
                <a:ea typeface="Courier New" pitchFamily="34" charset="-122"/>
                <a:cs typeface="Courier New" pitchFamily="34" charset="-120"/>
              </a:rPr>
              <a:t>Use the menu:  Runtime → Restart session</a:t>
            </a:r>
            <a:endParaRPr lang="en-US" sz="1700" dirty="0"/>
          </a:p>
        </p:txBody>
      </p:sp>
      <p:sp>
        <p:nvSpPr>
          <p:cNvPr id="5" name="Text 3"/>
          <p:cNvSpPr/>
          <p:nvPr/>
        </p:nvSpPr>
        <p:spPr>
          <a:xfrm>
            <a:off x="640080" y="2304288"/>
            <a:ext cx="10908792" cy="384048"/>
          </a:xfrm>
          <a:prstGeom prst="rect">
            <a:avLst/>
          </a:prstGeom>
          <a:noFill/>
          <a:ln/>
        </p:spPr>
        <p:txBody>
          <a:bodyPr wrap="square" lIns="0" tIns="0" rIns="0" bIns="0" rtlCol="0" anchor="t"/>
          <a:lstStyle/>
          <a:p>
            <a:pPr indent="0" marL="0">
              <a:buNone/>
            </a:pPr>
            <a:r>
              <a:rPr lang="en-US" sz="1600" dirty="0">
                <a:solidFill>
                  <a:srgbClr val="595959"/>
                </a:solidFill>
                <a:latin typeface="Arial" pitchFamily="34" charset="0"/>
                <a:ea typeface="Arial" pitchFamily="34" charset="-122"/>
                <a:cs typeface="Arial" pitchFamily="34" charset="-120"/>
              </a:rPr>
              <a:t>Installing the stack upgrades pandas, and Colab has already imported it. Every install cell watches for this and prints the banner itself.</a:t>
            </a:r>
            <a:endParaRPr lang="en-US" sz="1600" dirty="0"/>
          </a:p>
        </p:txBody>
      </p:sp>
      <p:sp>
        <p:nvSpPr>
          <p:cNvPr id="6" name="Text 4"/>
          <p:cNvSpPr/>
          <p:nvPr/>
        </p:nvSpPr>
        <p:spPr>
          <a:xfrm>
            <a:off x="640080" y="2852928"/>
            <a:ext cx="10908792" cy="2926080"/>
          </a:xfrm>
          <a:prstGeom prst="rect">
            <a:avLst/>
          </a:prstGeom>
          <a:noFill/>
          <a:ln/>
        </p:spPr>
        <p:txBody>
          <a:bodyPr wrap="square" lIns="0" tIns="0" rIns="0" bIns="0" rtlCol="0" anchor="t"/>
          <a:lstStyle/>
          <a:p>
            <a:pPr algn="l" marL="228600" indent="-2286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A GPU is optional. Every Tutorial runs on the ordinary free CPU runtime; Tutorial 4 is a few minutes quicker with one. If you want it: Runtime → Change runtime type → T4 GPU.</a:t>
            </a:r>
            <a:endParaRPr lang="en-US" sz="1700" dirty="0"/>
          </a:p>
          <a:p>
            <a:pPr algn="l" marL="228600" indent="-2286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Sessions are disposable. Close the tab, open the Tutorial again, start over. Nothing on your own machine can be broken by anything here.</a:t>
            </a:r>
            <a:endParaRPr lang="en-US" sz="1700" dirty="0"/>
          </a:p>
          <a:p>
            <a:pPr algn="l" marL="228600" indent="-2286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Colab wipes what you install when a session ends, so you run an install cell at the start of each Tutorial. That is expected, not a mistake.</a:t>
            </a:r>
            <a:endParaRPr lang="en-US" sz="1700" dirty="0"/>
          </a:p>
          <a:p>
            <a:pPr algn="l" marL="228600" indent="-228600">
              <a:spcAft>
                <a:spcPts val="1000"/>
              </a:spcAft>
              <a:buSzPct val="100000"/>
              <a:buChar char="•"/>
            </a:pPr>
            <a:r>
              <a:rPr lang="en-US" sz="1700" dirty="0">
                <a:solidFill>
                  <a:srgbClr val="000000"/>
                </a:solidFill>
                <a:latin typeface="Arial" pitchFamily="34" charset="0"/>
                <a:ea typeface="Arial" pitchFamily="34" charset="-122"/>
                <a:cs typeface="Arial" pitchFamily="34" charset="-120"/>
              </a:rPr>
              <a:t>On the day, Tutorial 4 pulls a further 1.8 GB full-resolution H&amp;E from 10x over Google’s network, not the wifi in the room.</a:t>
            </a:r>
            <a:endParaRPr lang="en-US" sz="17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Tutorial 1: dissociation answers what is there, never where</a:t>
            </a:r>
            <a:endParaRPr lang="en-US" sz="2400" dirty="0"/>
          </a:p>
        </p:txBody>
      </p:sp>
      <p:pic>
        <p:nvPicPr>
          <p:cNvPr id="3" name="Image 0" descr="/scratch/user/uqxtan9/analysis_project/ASI_FIMSA_workshop/slides/figures/nb01_atera_wholeslide.jpg">    </p:cNvPr>
          <p:cNvPicPr>
            <a:picLocks noChangeAspect="1"/>
          </p:cNvPicPr>
          <p:nvPr/>
        </p:nvPicPr>
        <p:blipFill>
          <a:blip r:embed="rId1"/>
          <a:stretch>
            <a:fillRect/>
          </a:stretch>
        </p:blipFill>
        <p:spPr>
          <a:xfrm>
            <a:off x="1721041" y="1143000"/>
            <a:ext cx="4284597" cy="4590288"/>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170,057 cells, 13 annotated types, every one of them placed. Dissociate the same tissue and you keep the types and lose the positions.</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The myoepithelial rim around each duct is the histological signature of ductal carcinoma in situ. No UMAP can show it.</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The immune infiltration is heterogeneous across a single slide: dense in places, absent in others.</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1 §3.3  ·  Atera whole-transcriptome Xenium preview  ·  CC BY 4.0, 10x Genomics</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Two families of technology: capture the tissue, or image it in place</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207008"/>
          <a:ext cx="10908792" cy="914400"/>
        </p:xfrm>
        <a:graphic>
          <a:graphicData uri="http://schemas.openxmlformats.org/drawingml/2006/table">
            <a:tbl>
              <a:tblPr/>
              <a:tblGrid>
                <a:gridCol w="2148840"/>
                <a:gridCol w="4379976"/>
                <a:gridCol w="4379976"/>
              </a:tblGrid>
              <a:tr h="548640">
                <a:tc>
                  <a:txBody>
                    <a:bodyPr/>
                    <a:lstStyle/>
                    <a:p>
                      <a:pPr indent="0" marL="0">
                        <a:buNone/>
                      </a:pP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Sequencing-based</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Imaging-based</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r>
              <a:tr h="548640">
                <a:tc>
                  <a:txBody>
                    <a:bodyPr/>
                    <a:lstStyle/>
                    <a:p>
                      <a:pPr indent="0" marL="0">
                        <a:buNone/>
                      </a:pPr>
                      <a:r>
                        <a:rPr lang="en-US" sz="1500" b="1" dirty="0">
                          <a:solidFill>
                            <a:srgbClr val="000000"/>
                          </a:solidFill>
                          <a:latin typeface="Arial" pitchFamily="34" charset="0"/>
                          <a:ea typeface="Arial" pitchFamily="34" charset="-122"/>
                          <a:cs typeface="Arial" pitchFamily="34" charset="-120"/>
                        </a:rPr>
                        <a:t>How it works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mRNA is captured on a barcoded surface, then sequenced</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probes bind transcripts and are imaged in place, cycle by cycle</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48640">
                <a:tc>
                  <a:txBody>
                    <a:bodyPr/>
                    <a:lstStyle/>
                    <a:p>
                      <a:pPr indent="0" marL="0">
                        <a:buNone/>
                      </a:pPr>
                      <a:r>
                        <a:rPr lang="en-US" sz="1500" b="1" dirty="0">
                          <a:solidFill>
                            <a:srgbClr val="000000"/>
                          </a:solidFill>
                          <a:latin typeface="Arial" pitchFamily="34" charset="0"/>
                          <a:ea typeface="Arial" pitchFamily="34" charset="-122"/>
                          <a:cs typeface="Arial" pitchFamily="34" charset="-120"/>
                        </a:rPr>
                        <a:t>One measurement is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a fixed-size spot, and whatever cells fall in it</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one cell, segmented from the image</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48640">
                <a:tc>
                  <a:txBody>
                    <a:bodyPr/>
                    <a:lstStyle/>
                    <a:p>
                      <a:pPr indent="0" marL="0">
                        <a:buNone/>
                      </a:pPr>
                      <a:r>
                        <a:rPr lang="en-US" sz="1500" b="1" dirty="0">
                          <a:solidFill>
                            <a:srgbClr val="000000"/>
                          </a:solidFill>
                          <a:latin typeface="Arial" pitchFamily="34" charset="0"/>
                          <a:ea typeface="Arial" pitchFamily="34" charset="-122"/>
                          <a:cs typeface="Arial" pitchFamily="34" charset="-120"/>
                        </a:rPr>
                        <a:t>Which genes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the whole transcriptome, chosen by nobody</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whatever is on the panel — until Atera</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48640">
                <a:tc>
                  <a:txBody>
                    <a:bodyPr/>
                    <a:lstStyle/>
                    <a:p>
                      <a:pPr indent="0" marL="0">
                        <a:buNone/>
                      </a:pPr>
                      <a:r>
                        <a:rPr lang="en-US" sz="1500" b="1" dirty="0">
                          <a:solidFill>
                            <a:srgbClr val="000000"/>
                          </a:solidFill>
                          <a:latin typeface="Arial" pitchFamily="34" charset="0"/>
                          <a:ea typeface="Arial" pitchFamily="34" charset="-122"/>
                          <a:cs typeface="Arial" pitchFamily="34" charset="-120"/>
                        </a:rPr>
                        <a:t>Here</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Visium</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Xenium, Atera</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bl>
          </a:graphicData>
        </a:graphic>
      </p:graphicFrame>
      <p:sp>
        <p:nvSpPr>
          <p:cNvPr id="4" name="Text 1"/>
          <p:cNvSpPr/>
          <p:nvPr/>
        </p:nvSpPr>
        <p:spPr>
          <a:xfrm>
            <a:off x="640080" y="4526280"/>
            <a:ext cx="10908792" cy="123444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An imaging panel is designed before the experiment and fixes what is measurable.</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Atera is the first of the imaging family to drop that constraint.</a:t>
            </a:r>
            <a:endParaRPr lang="en-US" sz="18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Everything lands in one SpatialData object, in one coordinate system</a:t>
            </a:r>
            <a:endParaRPr lang="en-US" sz="2400" dirty="0"/>
          </a:p>
        </p:txBody>
      </p:sp>
      <p:sp>
        <p:nvSpPr>
          <p:cNvPr id="3" name="Shape 1"/>
          <p:cNvSpPr/>
          <p:nvPr/>
        </p:nvSpPr>
        <p:spPr>
          <a:xfrm>
            <a:off x="640080" y="1161288"/>
            <a:ext cx="2548890" cy="1847088"/>
          </a:xfrm>
          <a:prstGeom prst="roundRect">
            <a:avLst>
              <a:gd name="adj" fmla="val 3465"/>
            </a:avLst>
          </a:prstGeom>
          <a:solidFill>
            <a:srgbClr val="F2F2F2"/>
          </a:solidFill>
          <a:ln w="12700">
            <a:solidFill>
              <a:srgbClr val="F2F2F2"/>
            </a:solidFill>
            <a:prstDash val="solid"/>
          </a:ln>
        </p:spPr>
      </p:sp>
      <p:sp>
        <p:nvSpPr>
          <p:cNvPr id="4" name="Text 2"/>
          <p:cNvSpPr/>
          <p:nvPr/>
        </p:nvSpPr>
        <p:spPr>
          <a:xfrm>
            <a:off x="804672" y="1289304"/>
            <a:ext cx="2219706" cy="347472"/>
          </a:xfrm>
          <a:prstGeom prst="rect">
            <a:avLst/>
          </a:prstGeom>
          <a:noFill/>
          <a:ln/>
        </p:spPr>
        <p:txBody>
          <a:bodyPr wrap="square" lIns="0" tIns="0" rIns="0" bIns="0" rtlCol="0" anchor="t"/>
          <a:lstStyle/>
          <a:p>
            <a:pPr indent="0" marL="0">
              <a:buNone/>
            </a:pPr>
            <a:r>
              <a:rPr lang="en-US" sz="1800" b="1" dirty="0">
                <a:solidFill>
                  <a:srgbClr val="C00000"/>
                </a:solidFill>
                <a:latin typeface="Arial" pitchFamily="34" charset="0"/>
                <a:ea typeface="Arial" pitchFamily="34" charset="-122"/>
                <a:cs typeface="Arial" pitchFamily="34" charset="-120"/>
              </a:rPr>
              <a:t>.images</a:t>
            </a:r>
            <a:endParaRPr lang="en-US" sz="1800" dirty="0"/>
          </a:p>
        </p:txBody>
      </p:sp>
      <p:sp>
        <p:nvSpPr>
          <p:cNvPr id="5" name="Text 3"/>
          <p:cNvSpPr/>
          <p:nvPr/>
        </p:nvSpPr>
        <p:spPr>
          <a:xfrm>
            <a:off x="804672" y="1636776"/>
            <a:ext cx="2219706" cy="3657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Pixels</a:t>
            </a:r>
            <a:endParaRPr lang="en-US" sz="1600" dirty="0"/>
          </a:p>
        </p:txBody>
      </p:sp>
      <p:sp>
        <p:nvSpPr>
          <p:cNvPr id="6" name="Text 4"/>
          <p:cNvSpPr/>
          <p:nvPr/>
        </p:nvSpPr>
        <p:spPr>
          <a:xfrm>
            <a:off x="804672" y="2039112"/>
            <a:ext cx="2219706" cy="82296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H&amp;E and morphology stains, usually stored at several resolutions.</a:t>
            </a:r>
            <a:endParaRPr lang="en-US" sz="1400" dirty="0"/>
          </a:p>
        </p:txBody>
      </p:sp>
      <p:sp>
        <p:nvSpPr>
          <p:cNvPr id="7" name="Shape 5"/>
          <p:cNvSpPr/>
          <p:nvPr/>
        </p:nvSpPr>
        <p:spPr>
          <a:xfrm>
            <a:off x="3426714" y="1161288"/>
            <a:ext cx="2548890" cy="1847088"/>
          </a:xfrm>
          <a:prstGeom prst="roundRect">
            <a:avLst>
              <a:gd name="adj" fmla="val 3465"/>
            </a:avLst>
          </a:prstGeom>
          <a:solidFill>
            <a:srgbClr val="F2F2F2"/>
          </a:solidFill>
          <a:ln w="12700">
            <a:solidFill>
              <a:srgbClr val="F2F2F2"/>
            </a:solidFill>
            <a:prstDash val="solid"/>
          </a:ln>
        </p:spPr>
      </p:sp>
      <p:sp>
        <p:nvSpPr>
          <p:cNvPr id="8" name="Text 6"/>
          <p:cNvSpPr/>
          <p:nvPr/>
        </p:nvSpPr>
        <p:spPr>
          <a:xfrm>
            <a:off x="3591306" y="1289304"/>
            <a:ext cx="2219706" cy="347472"/>
          </a:xfrm>
          <a:prstGeom prst="rect">
            <a:avLst/>
          </a:prstGeom>
          <a:noFill/>
          <a:ln/>
        </p:spPr>
        <p:txBody>
          <a:bodyPr wrap="square" lIns="0" tIns="0" rIns="0" bIns="0" rtlCol="0" anchor="t"/>
          <a:lstStyle/>
          <a:p>
            <a:pPr indent="0" marL="0">
              <a:buNone/>
            </a:pPr>
            <a:r>
              <a:rPr lang="en-US" sz="1800" b="1" dirty="0">
                <a:solidFill>
                  <a:srgbClr val="C00000"/>
                </a:solidFill>
                <a:latin typeface="Arial" pitchFamily="34" charset="0"/>
                <a:ea typeface="Arial" pitchFamily="34" charset="-122"/>
                <a:cs typeface="Arial" pitchFamily="34" charset="-120"/>
              </a:rPr>
              <a:t>.shapes</a:t>
            </a:r>
            <a:endParaRPr lang="en-US" sz="1800" dirty="0"/>
          </a:p>
        </p:txBody>
      </p:sp>
      <p:sp>
        <p:nvSpPr>
          <p:cNvPr id="9" name="Text 7"/>
          <p:cNvSpPr/>
          <p:nvPr/>
        </p:nvSpPr>
        <p:spPr>
          <a:xfrm>
            <a:off x="3591306" y="1636776"/>
            <a:ext cx="2219706" cy="3657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Geometry</a:t>
            </a:r>
            <a:endParaRPr lang="en-US" sz="1600" dirty="0"/>
          </a:p>
        </p:txBody>
      </p:sp>
      <p:sp>
        <p:nvSpPr>
          <p:cNvPr id="10" name="Text 8"/>
          <p:cNvSpPr/>
          <p:nvPr/>
        </p:nvSpPr>
        <p:spPr>
          <a:xfrm>
            <a:off x="3591306" y="2039112"/>
            <a:ext cx="2219706" cy="82296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Visium spots and cell boundaries, as circles or polygons.</a:t>
            </a:r>
            <a:endParaRPr lang="en-US" sz="1400" dirty="0"/>
          </a:p>
        </p:txBody>
      </p:sp>
      <p:sp>
        <p:nvSpPr>
          <p:cNvPr id="11" name="Shape 9"/>
          <p:cNvSpPr/>
          <p:nvPr/>
        </p:nvSpPr>
        <p:spPr>
          <a:xfrm>
            <a:off x="6213348" y="1161288"/>
            <a:ext cx="2548890" cy="1847088"/>
          </a:xfrm>
          <a:prstGeom prst="roundRect">
            <a:avLst>
              <a:gd name="adj" fmla="val 3465"/>
            </a:avLst>
          </a:prstGeom>
          <a:solidFill>
            <a:srgbClr val="F2F2F2"/>
          </a:solidFill>
          <a:ln w="12700">
            <a:solidFill>
              <a:srgbClr val="F2F2F2"/>
            </a:solidFill>
            <a:prstDash val="solid"/>
          </a:ln>
        </p:spPr>
      </p:sp>
      <p:sp>
        <p:nvSpPr>
          <p:cNvPr id="12" name="Text 10"/>
          <p:cNvSpPr/>
          <p:nvPr/>
        </p:nvSpPr>
        <p:spPr>
          <a:xfrm>
            <a:off x="6377940" y="1289304"/>
            <a:ext cx="2219706" cy="347472"/>
          </a:xfrm>
          <a:prstGeom prst="rect">
            <a:avLst/>
          </a:prstGeom>
          <a:noFill/>
          <a:ln/>
        </p:spPr>
        <p:txBody>
          <a:bodyPr wrap="square" lIns="0" tIns="0" rIns="0" bIns="0" rtlCol="0" anchor="t"/>
          <a:lstStyle/>
          <a:p>
            <a:pPr indent="0" marL="0">
              <a:buNone/>
            </a:pPr>
            <a:r>
              <a:rPr lang="en-US" sz="1800" b="1" dirty="0">
                <a:solidFill>
                  <a:srgbClr val="C00000"/>
                </a:solidFill>
                <a:latin typeface="Arial" pitchFamily="34" charset="0"/>
                <a:ea typeface="Arial" pitchFamily="34" charset="-122"/>
                <a:cs typeface="Arial" pitchFamily="34" charset="-120"/>
              </a:rPr>
              <a:t>.points</a:t>
            </a:r>
            <a:endParaRPr lang="en-US" sz="1800" dirty="0"/>
          </a:p>
        </p:txBody>
      </p:sp>
      <p:sp>
        <p:nvSpPr>
          <p:cNvPr id="13" name="Text 11"/>
          <p:cNvSpPr/>
          <p:nvPr/>
        </p:nvSpPr>
        <p:spPr>
          <a:xfrm>
            <a:off x="6377940" y="1636776"/>
            <a:ext cx="2219706" cy="3657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Molecules</a:t>
            </a:r>
            <a:endParaRPr lang="en-US" sz="1600" dirty="0"/>
          </a:p>
        </p:txBody>
      </p:sp>
      <p:sp>
        <p:nvSpPr>
          <p:cNvPr id="14" name="Text 12"/>
          <p:cNvSpPr/>
          <p:nvPr/>
        </p:nvSpPr>
        <p:spPr>
          <a:xfrm>
            <a:off x="6377940" y="2039112"/>
            <a:ext cx="2219706" cy="82296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Individual transcripts, one row each, with coordinates.</a:t>
            </a:r>
            <a:endParaRPr lang="en-US" sz="1400" dirty="0"/>
          </a:p>
        </p:txBody>
      </p:sp>
      <p:sp>
        <p:nvSpPr>
          <p:cNvPr id="15" name="Shape 13"/>
          <p:cNvSpPr/>
          <p:nvPr/>
        </p:nvSpPr>
        <p:spPr>
          <a:xfrm>
            <a:off x="8999982" y="1161288"/>
            <a:ext cx="2548890" cy="1847088"/>
          </a:xfrm>
          <a:prstGeom prst="roundRect">
            <a:avLst>
              <a:gd name="adj" fmla="val 3465"/>
            </a:avLst>
          </a:prstGeom>
          <a:solidFill>
            <a:srgbClr val="F2F2F2"/>
          </a:solidFill>
          <a:ln w="12700">
            <a:solidFill>
              <a:srgbClr val="F2F2F2"/>
            </a:solidFill>
            <a:prstDash val="solid"/>
          </a:ln>
        </p:spPr>
      </p:sp>
      <p:sp>
        <p:nvSpPr>
          <p:cNvPr id="16" name="Text 14"/>
          <p:cNvSpPr/>
          <p:nvPr/>
        </p:nvSpPr>
        <p:spPr>
          <a:xfrm>
            <a:off x="9164574" y="1289304"/>
            <a:ext cx="2219706" cy="347472"/>
          </a:xfrm>
          <a:prstGeom prst="rect">
            <a:avLst/>
          </a:prstGeom>
          <a:noFill/>
          <a:ln/>
        </p:spPr>
        <p:txBody>
          <a:bodyPr wrap="square" lIns="0" tIns="0" rIns="0" bIns="0" rtlCol="0" anchor="t"/>
          <a:lstStyle/>
          <a:p>
            <a:pPr indent="0" marL="0">
              <a:buNone/>
            </a:pPr>
            <a:r>
              <a:rPr lang="en-US" sz="1800" b="1" dirty="0">
                <a:solidFill>
                  <a:srgbClr val="C00000"/>
                </a:solidFill>
                <a:latin typeface="Arial" pitchFamily="34" charset="0"/>
                <a:ea typeface="Arial" pitchFamily="34" charset="-122"/>
                <a:cs typeface="Arial" pitchFamily="34" charset="-120"/>
              </a:rPr>
              <a:t>.tables</a:t>
            </a:r>
            <a:endParaRPr lang="en-US" sz="1800" dirty="0"/>
          </a:p>
        </p:txBody>
      </p:sp>
      <p:sp>
        <p:nvSpPr>
          <p:cNvPr id="17" name="Text 15"/>
          <p:cNvSpPr/>
          <p:nvPr/>
        </p:nvSpPr>
        <p:spPr>
          <a:xfrm>
            <a:off x="9164574" y="1636776"/>
            <a:ext cx="2219706" cy="365760"/>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Counts</a:t>
            </a:r>
            <a:endParaRPr lang="en-US" sz="1600" dirty="0"/>
          </a:p>
        </p:txBody>
      </p:sp>
      <p:sp>
        <p:nvSpPr>
          <p:cNvPr id="18" name="Text 16"/>
          <p:cNvSpPr/>
          <p:nvPr/>
        </p:nvSpPr>
        <p:spPr>
          <a:xfrm>
            <a:off x="9164574" y="2039112"/>
            <a:ext cx="2219706" cy="822960"/>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An AnnData of cells by genes, annotating one of the elements above.</a:t>
            </a:r>
            <a:endParaRPr lang="en-US" sz="1400" dirty="0"/>
          </a:p>
        </p:txBody>
      </p:sp>
      <p:sp>
        <p:nvSpPr>
          <p:cNvPr id="19" name="Text 17"/>
          <p:cNvSpPr/>
          <p:nvPr/>
        </p:nvSpPr>
        <p:spPr>
          <a:xfrm>
            <a:off x="640080" y="3273552"/>
            <a:ext cx="10908792" cy="2487168"/>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The elements do not share a pixel grid. Each carries a transformation into a named coordinate system, and that is what lines them up.</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Xenium ships its polygons in micrometres while its "global" system is in camera pixels. Mixing the two silently misplaces every cell.</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import spatialdata_plot looks unused. It registers the .pl accessor onto every object, which is how the figures get drawn.</a:t>
            </a:r>
            <a:endParaRPr lang="en-US" sz="18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Every platform trades genes against cells: read the table as a diagonal</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0908792" cy="914400"/>
        </p:xfrm>
        <a:graphic>
          <a:graphicData uri="http://schemas.openxmlformats.org/drawingml/2006/table">
            <a:tbl>
              <a:tblPr/>
              <a:tblGrid>
                <a:gridCol w="2011680"/>
                <a:gridCol w="5486400"/>
                <a:gridCol w="3410712"/>
              </a:tblGrid>
              <a:tr h="530352">
                <a:tc>
                  <a:txBody>
                    <a:bodyPr/>
                    <a:lstStyle/>
                    <a:p>
                      <a:pPr indent="0" marL="0">
                        <a:buNone/>
                      </a:pPr>
                      <a:r>
                        <a:rPr lang="en-US" sz="1600" b="1" dirty="0">
                          <a:solidFill>
                            <a:srgbClr val="FFFFFF"/>
                          </a:solidFill>
                          <a:latin typeface="Arial" pitchFamily="34" charset="0"/>
                          <a:ea typeface="Arial" pitchFamily="34" charset="-122"/>
                          <a:cs typeface="Arial" pitchFamily="34" charset="-120"/>
                        </a:rPr>
                        <a:t>Platform</a:t>
                      </a:r>
                      <a:endParaRPr lang="en-US" sz="16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One measurement is</a:t>
                      </a:r>
                      <a:endParaRPr lang="en-US" sz="16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c>
                  <a:txBody>
                    <a:bodyPr/>
                    <a:lstStyle/>
                    <a:p>
                      <a:pPr indent="0" marL="0">
                        <a:buNone/>
                      </a:pPr>
                      <a:r>
                        <a:rPr lang="en-US" sz="1600" b="1" dirty="0">
                          <a:solidFill>
                            <a:srgbClr val="FFFFFF"/>
                          </a:solidFill>
                          <a:latin typeface="Arial" pitchFamily="34" charset="0"/>
                          <a:ea typeface="Arial" pitchFamily="34" charset="-122"/>
                          <a:cs typeface="Arial" pitchFamily="34" charset="-120"/>
                        </a:rPr>
                        <a:t>How many genes</a:t>
                      </a:r>
                      <a:endParaRPr lang="en-US" sz="16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r>
              <a:tr h="530352">
                <a:tc>
                  <a:txBody>
                    <a:bodyPr/>
                    <a:lstStyle/>
                    <a:p>
                      <a:pPr indent="0" marL="0">
                        <a:buNone/>
                      </a:pPr>
                      <a:r>
                        <a:rPr lang="en-US" sz="1600" b="1" dirty="0">
                          <a:solidFill>
                            <a:srgbClr val="000000"/>
                          </a:solidFill>
                          <a:latin typeface="Arial" pitchFamily="34" charset="0"/>
                          <a:ea typeface="Arial" pitchFamily="34" charset="-122"/>
                          <a:cs typeface="Arial" pitchFamily="34" charset="-120"/>
                        </a:rPr>
                        <a:t>Visium</a:t>
                      </a:r>
                      <a:endParaRPr lang="en-US" sz="16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a 55 µm spot: a small disc of tissue holding several cells</a:t>
                      </a:r>
                      <a:endParaRPr lang="en-US" sz="16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whole transcriptome, ~36,600</a:t>
                      </a:r>
                      <a:endParaRPr lang="en-US" sz="16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30352">
                <a:tc>
                  <a:txBody>
                    <a:bodyPr/>
                    <a:lstStyle/>
                    <a:p>
                      <a:pPr indent="0" marL="0">
                        <a:buNone/>
                      </a:pPr>
                      <a:r>
                        <a:rPr lang="en-US" sz="1600" b="1" dirty="0">
                          <a:solidFill>
                            <a:srgbClr val="000000"/>
                          </a:solidFill>
                          <a:latin typeface="Arial" pitchFamily="34" charset="0"/>
                          <a:ea typeface="Arial" pitchFamily="34" charset="-122"/>
                          <a:cs typeface="Arial" pitchFamily="34" charset="-120"/>
                        </a:rPr>
                        <a:t>Xenium</a:t>
                      </a:r>
                      <a:endParaRPr lang="en-US" sz="16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one cell</a:t>
                      </a:r>
                      <a:endParaRPr lang="en-US" sz="16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a targeted panel, 313</a:t>
                      </a:r>
                      <a:endParaRPr lang="en-US" sz="16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30352">
                <a:tc>
                  <a:txBody>
                    <a:bodyPr/>
                    <a:lstStyle/>
                    <a:p>
                      <a:pPr indent="0" marL="0">
                        <a:buNone/>
                      </a:pPr>
                      <a:r>
                        <a:rPr lang="en-US" sz="1600" b="1" dirty="0">
                          <a:solidFill>
                            <a:srgbClr val="000000"/>
                          </a:solidFill>
                          <a:latin typeface="Arial" pitchFamily="34" charset="0"/>
                          <a:ea typeface="Arial" pitchFamily="34" charset="-122"/>
                          <a:cs typeface="Arial" pitchFamily="34" charset="-120"/>
                        </a:rPr>
                        <a:t>Atera</a:t>
                      </a:r>
                      <a:endParaRPr lang="en-US" sz="16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one cell</a:t>
                      </a:r>
                      <a:endParaRPr lang="en-US" sz="16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600" dirty="0">
                          <a:solidFill>
                            <a:srgbClr val="000000"/>
                          </a:solidFill>
                          <a:latin typeface="Arial" pitchFamily="34" charset="0"/>
                          <a:ea typeface="Arial" pitchFamily="34" charset="-122"/>
                          <a:cs typeface="Arial" pitchFamily="34" charset="-120"/>
                        </a:rPr>
                        <a:t>whole transcriptome, ~18,000</a:t>
                      </a:r>
                      <a:endParaRPr lang="en-US" sz="16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bl>
          </a:graphicData>
        </a:graphic>
      </p:graphicFrame>
      <p:sp>
        <p:nvSpPr>
          <p:cNvPr id="4" name="Text 1"/>
          <p:cNvSpPr/>
          <p:nvPr/>
        </p:nvSpPr>
        <p:spPr>
          <a:xfrm>
            <a:off x="640080" y="3529584"/>
            <a:ext cx="10908792" cy="274320"/>
          </a:xfrm>
          <a:prstGeom prst="rect">
            <a:avLst/>
          </a:prstGeom>
          <a:noFill/>
          <a:ln/>
        </p:spPr>
        <p:txBody>
          <a:bodyPr wrap="square" lIns="0" tIns="0" rIns="0" bIns="0" rtlCol="0" anchor="t"/>
          <a:lstStyle/>
          <a:p>
            <a:pPr indent="0" marL="0">
              <a:buNone/>
            </a:pPr>
            <a:r>
              <a:rPr lang="en-US" sz="1300" dirty="0">
                <a:solidFill>
                  <a:srgbClr val="595959"/>
                </a:solidFill>
                <a:latin typeface="Arial" pitchFamily="34" charset="0"/>
                <a:ea typeface="Arial" pitchFamily="34" charset="-122"/>
                <a:cs typeface="Arial" pitchFamily="34" charset="-120"/>
              </a:rPr>
              <a:t>Samples: V1_Breast_Cancer_Block_A_Section_1  ·  Xenium_FFPE_Human_Breast_Cancer_Rep1  ·  Atera WTA preview, Gen2 prototype</a:t>
            </a:r>
            <a:endParaRPr lang="en-US" sz="1300" dirty="0"/>
          </a:p>
        </p:txBody>
      </p:sp>
      <p:sp>
        <p:nvSpPr>
          <p:cNvPr id="5" name="Text 2"/>
          <p:cNvSpPr/>
          <p:nvPr/>
        </p:nvSpPr>
        <p:spPr>
          <a:xfrm>
            <a:off x="640080" y="3977640"/>
            <a:ext cx="10908792" cy="17830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Visium gives you every gene but not every cell. Xenium gives you every cell but only the genes someone chose in advance.</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Atera is the corner that used not to exist: single-cell resolution and the whole transcriptome, over 170,057 cells.</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Three different FFPE specimens of human breast carcinoma, not serial sections of one block. All three from 10x Genomics.</a:t>
            </a:r>
            <a:endParaRPr lang="en-US" sz="18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A 55 µm spot shows architecture nobody annotated, and hides everything inside it</a:t>
            </a:r>
            <a:endParaRPr lang="en-US" sz="2400" dirty="0"/>
          </a:p>
        </p:txBody>
      </p:sp>
      <p:pic>
        <p:nvPicPr>
          <p:cNvPr id="3" name="Image 0" descr="/scratch/user/uqxtan9/analysis_project/ASI_FIMSA_workshop/slides/figures/nb01_visium_genes.jpg">    </p:cNvPr>
          <p:cNvPicPr>
            <a:picLocks noChangeAspect="1"/>
          </p:cNvPicPr>
          <p:nvPr/>
        </p:nvPicPr>
        <p:blipFill>
          <a:blip r:embed="rId1"/>
          <a:stretch>
            <a:fillRect/>
          </a:stretch>
        </p:blipFill>
        <p:spPr>
          <a:xfrm>
            <a:off x="965431" y="1143000"/>
            <a:ext cx="5795818" cy="4590288"/>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EPCAM and ERBB2 light up the same territory; COL1A1 fills the space between them. That is the tumour and stroma architecture of the section, visible before anyone annotated anything.</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Now look at PTPRC. Low and diffuse almost everywhere.</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Every spot is a mixture of cells, and you cannot co-localise within one.</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1 §1.6  ·  Visium V1_Breast_Cancer_Block_A_Section_1, 3,798 spots under tissue  ·  data: 10x Genomics</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Xenium resolves single cells, so you can ask whether the T cells are inside the duct</a:t>
            </a:r>
            <a:endParaRPr lang="en-US" sz="2400" dirty="0"/>
          </a:p>
        </p:txBody>
      </p:sp>
      <p:pic>
        <p:nvPicPr>
          <p:cNvPr id="3" name="Image 0" descr="/scratch/user/uqxtan9/analysis_project/ASI_FIMSA_workshop/slides/figures/nb01_xenium_boundaries.jpg">    </p:cNvPr>
          <p:cNvPicPr>
            <a:picLocks noChangeAspect="1"/>
          </p:cNvPicPr>
          <p:nvPr/>
        </p:nvPicPr>
        <p:blipFill>
          <a:blip r:embed="rId1"/>
          <a:stretch>
            <a:fillRect/>
          </a:stretch>
        </p:blipFill>
        <p:spPr>
          <a:xfrm>
            <a:off x="1332548" y="1143000"/>
            <a:ext cx="5061583" cy="4590288"/>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6,269 cells in one square millimetre, clustered and drawn as their real segmentation boundaries.</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313 genes, and 228 columns that are not genes: on-slide negative controls with no equivalent in a sequencing assay.</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Adjacency stops being a guess and becomes a question you can answer. That is Tutorial 2.</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1 §2.8  ·  Xenium_FFPE_Human_Breast_Cancer_Rep1  ·  Janesick et al., Nat Commun 14, 8353 (2023)</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Atera gives both. But any one gene is sparse, and deconvolution is not resolution.</a:t>
            </a:r>
            <a:endParaRPr lang="en-US" sz="2400" dirty="0"/>
          </a:p>
        </p:txBody>
      </p:sp>
      <p:pic>
        <p:nvPicPr>
          <p:cNvPr id="3" name="Image 0" descr="/scratch/user/uqxtan9/analysis_project/ASI_FIMSA_workshop/slides/figures/nb01_triptych.jpg">    </p:cNvPr>
          <p:cNvPicPr>
            <a:picLocks noChangeAspect="1"/>
          </p:cNvPicPr>
          <p:nvPr/>
        </p:nvPicPr>
        <p:blipFill>
          <a:blip r:embed="rId1"/>
          <a:stretch>
            <a:fillRect/>
          </a:stretch>
        </p:blipFill>
        <p:spPr>
          <a:xfrm>
            <a:off x="2316435" y="1115568"/>
            <a:ext cx="7556082" cy="2926080"/>
          </a:xfrm>
          <a:prstGeom prst="rect">
            <a:avLst/>
          </a:prstGeom>
        </p:spPr>
      </p:pic>
      <p:sp>
        <p:nvSpPr>
          <p:cNvPr id="4" name="Text 1"/>
          <p:cNvSpPr/>
          <p:nvPr/>
        </p:nvSpPr>
        <p:spPr>
          <a:xfrm>
            <a:off x="640080" y="4187952"/>
            <a:ext cx="10908792" cy="1572768"/>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The same 500 µm of tumour, three ways: 35 Visium spots, 1,776 Xenium cells, 1,138 Atera cells.</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Whole transcriptome at cell resolution is still sparse: EPCAM in ~47% of Atera cells, ERBB2 in ~4%.</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Xenium expands nuclei and tiles the plane; Atera leaves the extracellular space empty.</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1 §4.2  ·  Atera whole-transcriptome Xenium preview, 18,028 genes, 170,057 cells  ·  CC BY 4.0, 10x Genomics</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Tutorial 2: a cell-type list is a census, not an architecture</a:t>
            </a:r>
            <a:endParaRPr lang="en-US" sz="2400" dirty="0"/>
          </a:p>
        </p:txBody>
      </p:sp>
      <p:pic>
        <p:nvPicPr>
          <p:cNvPr id="3" name="Image 0" descr="/scratch/user/uqxtan9/analysis_project/ASI_FIMSA_workshop/slides/figures/nb02_demo_neighbourhood.png">    </p:cNvPr>
          <p:cNvPicPr>
            <a:picLocks noChangeAspect="1"/>
          </p:cNvPicPr>
          <p:nvPr/>
        </p:nvPicPr>
        <p:blipFill>
          <a:blip r:embed="rId1"/>
          <a:stretch>
            <a:fillRect/>
          </a:stretch>
        </p:blipFill>
        <p:spPr>
          <a:xfrm>
            <a:off x="502920" y="1719076"/>
            <a:ext cx="6720840" cy="3438136"/>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Two tumour cells, same type, same expression. One is buried in tumour, the other sits at the immune interface.</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Nothing about the cells themselves separates them. Everything about their neighbourhoods does.</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Immune-excluded, inflamed and desert are claims about neighbourhoods. A table of cell-type counts cannot make them.</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2 §2.1  ·  900 synthetic cells, 10 nearest neighbours</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Coordinates become a graph before they become a statistic</a:t>
            </a:r>
            <a:endParaRPr lang="en-US" sz="2400" dirty="0"/>
          </a:p>
        </p:txBody>
      </p:sp>
      <p:pic>
        <p:nvPicPr>
          <p:cNvPr id="3" name="Image 0" descr="/scratch/user/uqxtan9/analysis_project/ASI_FIMSA_workshop/slides/figures/nb02_delaunay.png">    </p:cNvPr>
          <p:cNvPicPr>
            <a:picLocks noChangeAspect="1"/>
          </p:cNvPicPr>
          <p:nvPr/>
        </p:nvPicPr>
        <p:blipFill>
          <a:blip r:embed="rId1"/>
          <a:stretch>
            <a:fillRect/>
          </a:stretch>
        </p:blipFill>
        <p:spPr>
          <a:xfrm>
            <a:off x="910119" y="1143000"/>
            <a:ext cx="5906441" cy="4590288"/>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Delaunay triangulation, a fixed radius, or k nearest neighbours. Each defines "neighbour" differently, and none is the right one.</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3,843 edges in this 500 µm window. About 95% are shorter than 36 µm; the longest runs roughly 1,700 µm across a gap in the tissue.</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Look at the graph before you trust anything computed on it.</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2 §3.1  ·  sq.gr.spatial_neighbors(delaunay=True)</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Three routes from a graph to a niche, answering three different questions</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243584"/>
          <a:ext cx="10908792" cy="914400"/>
        </p:xfrm>
        <a:graphic>
          <a:graphicData uri="http://schemas.openxmlformats.org/drawingml/2006/table">
            <a:tbl>
              <a:tblPr/>
              <a:tblGrid>
                <a:gridCol w="2697480"/>
                <a:gridCol w="4663440"/>
                <a:gridCol w="3547872"/>
              </a:tblGrid>
              <a:tr h="640080">
                <a:tc>
                  <a:txBody>
                    <a:bodyPr/>
                    <a:lstStyle/>
                    <a:p>
                      <a:pPr indent="0" marL="0">
                        <a:buNone/>
                      </a:pPr>
                      <a:r>
                        <a:rPr lang="en-US" sz="1500" b="1" dirty="0">
                          <a:solidFill>
                            <a:srgbClr val="FFFFFF"/>
                          </a:solidFill>
                          <a:latin typeface="Arial" pitchFamily="34" charset="0"/>
                          <a:ea typeface="Arial" pitchFamily="34" charset="-122"/>
                          <a:cs typeface="Arial" pitchFamily="34" charset="-120"/>
                        </a:rPr>
                        <a:t>Route</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What it computes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What comes back</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r>
              <a:tr h="640080">
                <a:tc>
                  <a:txBody>
                    <a:bodyPr/>
                    <a:lstStyle/>
                    <a:p>
                      <a:pPr indent="0" marL="0">
                        <a:buNone/>
                      </a:pPr>
                      <a:r>
                        <a:rPr lang="en-US" sz="1500" b="1" dirty="0">
                          <a:solidFill>
                            <a:srgbClr val="000000"/>
                          </a:solidFill>
                          <a:latin typeface="Arial" pitchFamily="34" charset="0"/>
                          <a:ea typeface="Arial" pitchFamily="34" charset="-122"/>
                          <a:cs typeface="Arial" pitchFamily="34" charset="-120"/>
                        </a:rPr>
                        <a:t>squidpy</a:t>
                      </a:r>
                      <a:endParaRPr lang="en-US" sz="1500" dirty="0">
                        <a:latin typeface="Arial" charset="0"/>
                        <a:ea typeface="Arial" charset="0"/>
                        <a:cs typeface="Arial" charset="0"/>
                      </a:endParaRPr>
                    </a:p>
                    <a:p>
                      <a:pPr indent="0" marL="0">
                        <a:buNone/>
                      </a:pPr>
                      <a:r>
                        <a:rPr lang="en-US" sz="1500" b="1" dirty="0">
                          <a:solidFill>
                            <a:srgbClr val="000000"/>
                          </a:solidFill>
                          <a:latin typeface="Arial" pitchFamily="34" charset="0"/>
                          <a:ea typeface="Arial" pitchFamily="34" charset="-122"/>
                          <a:cs typeface="Arial" pitchFamily="34" charset="-120"/>
                        </a:rPr>
                        <a:t>nhood_enrichment</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how often each pair of cell types is adjacent, against shuffled labels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one z-score per pair of types, for the whole Crop</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640080">
                <a:tc>
                  <a:txBody>
                    <a:bodyPr/>
                    <a:lstStyle/>
                    <a:p>
                      <a:pPr indent="0" marL="0">
                        <a:buNone/>
                      </a:pPr>
                      <a:r>
                        <a:rPr lang="en-US" sz="1500" b="1" dirty="0">
                          <a:solidFill>
                            <a:srgbClr val="000000"/>
                          </a:solidFill>
                          <a:latin typeface="Arial" pitchFamily="34" charset="0"/>
                          <a:ea typeface="Arial" pitchFamily="34" charset="-122"/>
                          <a:cs typeface="Arial" pitchFamily="34" charset="-120"/>
                        </a:rPr>
                        <a:t>kNN composition</a:t>
                      </a:r>
                      <a:endParaRPr lang="en-US" sz="1500" dirty="0">
                        <a:latin typeface="Arial" charset="0"/>
                        <a:ea typeface="Arial" charset="0"/>
                        <a:cs typeface="Arial" charset="0"/>
                      </a:endParaRPr>
                    </a:p>
                    <a:p>
                      <a:pPr indent="0" marL="0">
                        <a:buNone/>
                      </a:pPr>
                      <a:r>
                        <a:rPr lang="en-US" sz="1500" b="1" dirty="0">
                          <a:solidFill>
                            <a:srgbClr val="000000"/>
                          </a:solidFill>
                          <a:latin typeface="Arial" pitchFamily="34" charset="0"/>
                          <a:ea typeface="Arial" pitchFamily="34" charset="-122"/>
                          <a:cs typeface="Arial" pitchFamily="34" charset="-120"/>
                        </a:rPr>
                        <a:t>+ KMeans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the mix of cell types around every cell, then clusters those profiles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a niche label for every single cell</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640080">
                <a:tc>
                  <a:txBody>
                    <a:bodyPr/>
                    <a:lstStyle/>
                    <a:p>
                      <a:pPr indent="0" marL="0">
                        <a:buNone/>
                      </a:pPr>
                      <a:r>
                        <a:rPr lang="en-US" sz="1500" b="1" dirty="0">
                          <a:solidFill>
                            <a:srgbClr val="000000"/>
                          </a:solidFill>
                          <a:latin typeface="Arial" pitchFamily="34" charset="0"/>
                          <a:ea typeface="Arial" pitchFamily="34" charset="-122"/>
                          <a:cs typeface="Arial" pitchFamily="34" charset="-120"/>
                        </a:rPr>
                        <a:t>sopa</a:t>
                      </a:r>
                      <a:endParaRPr lang="en-US" sz="1500" dirty="0">
                        <a:latin typeface="Arial" charset="0"/>
                        <a:ea typeface="Arial" charset="0"/>
                        <a:cs typeface="Arial" charset="0"/>
                      </a:endParaRPr>
                    </a:p>
                    <a:p>
                      <a:pPr indent="0" marL="0">
                        <a:buNone/>
                      </a:pPr>
                      <a:r>
                        <a:rPr lang="en-US" sz="1500" b="1" dirty="0">
                          <a:solidFill>
                            <a:srgbClr val="000000"/>
                          </a:solidFill>
                          <a:latin typeface="Arial" pitchFamily="34" charset="0"/>
                          <a:ea typeface="Arial" pitchFamily="34" charset="-122"/>
                          <a:cs typeface="Arial" pitchFamily="34" charset="-120"/>
                        </a:rPr>
                        <a:t>vectorize_niches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those labels turned into geometry</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area, roundness, components, and distance in hops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bl>
          </a:graphicData>
        </a:graphic>
      </p:graphicFrame>
      <p:sp>
        <p:nvSpPr>
          <p:cNvPr id="4" name="Text 1"/>
          <p:cNvSpPr/>
          <p:nvPr/>
        </p:nvSpPr>
        <p:spPr>
          <a:xfrm>
            <a:off x="640080" y="4617720"/>
            <a:ext cx="10908792" cy="114300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The first returns one number for the whole tissue. That is why the other two exist.</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All three take a scale parameter, and the answer changes with it. Report the number you used.</a:t>
            </a:r>
            <a:endParaRPr lang="en-US" sz="18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A cell-type list says who is in the room, not who is standing with whom</a:t>
            </a:r>
            <a:endParaRPr lang="en-US" sz="2400" dirty="0"/>
          </a:p>
        </p:txBody>
      </p:sp>
      <p:pic>
        <p:nvPicPr>
          <p:cNvPr id="3" name="Image 0" descr="/scratch/user/uqxtan9/analysis_project/ASI_FIMSA_workshop/slides/figures/nb02_crop_overview.jpg">    </p:cNvPr>
          <p:cNvPicPr>
            <a:picLocks noChangeAspect="1"/>
          </p:cNvPicPr>
          <p:nvPr/>
        </p:nvPicPr>
        <p:blipFill>
          <a:blip r:embed="rId1"/>
          <a:stretch>
            <a:fillRect/>
          </a:stretch>
        </p:blipFill>
        <p:spPr>
          <a:xfrm>
            <a:off x="502920" y="1997592"/>
            <a:ext cx="6720840" cy="2881104"/>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The Crop: a 2,000 µm square, 16,006 cells, 12 named types. 43% is tumour epithelium.</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400 cells stay Unassigned and are kept. Dropping them would quietly delete the cells the method understood least.</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Three questions follow: which types sit together, what niches exist, and how far apart they are.</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2 §1.2  ·  Atera Crop, one 18 MB download  ·  cell types from a human-reviewed annotation of 34 vendor clusters</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Tumour epithelium avoids T cells at z ≈ −72: an immune-excluded tumour</a:t>
            </a:r>
            <a:endParaRPr lang="en-US" sz="2400" dirty="0"/>
          </a:p>
        </p:txBody>
      </p:sp>
      <p:pic>
        <p:nvPicPr>
          <p:cNvPr id="3" name="Image 0" descr="/scratch/user/uqxtan9/analysis_project/ASI_FIMSA_workshop/slides/figures/nb02_nhood_enrichment.png">    </p:cNvPr>
          <p:cNvPicPr>
            <a:picLocks noChangeAspect="1"/>
          </p:cNvPicPr>
          <p:nvPr/>
        </p:nvPicPr>
        <p:blipFill>
          <a:blip r:embed="rId1"/>
          <a:stretch>
            <a:fillRect/>
          </a:stretch>
        </p:blipFill>
        <p:spPr>
          <a:xfrm>
            <a:off x="716039" y="1143000"/>
            <a:ext cx="6294603" cy="4590288"/>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squidpy builds a Delaunay graph, then shuffles the labels 200 times to ask which pairs are adjacent more often than chance.</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Tumour self-enrichment is z ≈ +119. Against T cells −72, dendritic cells −43, macrophages −34.</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The lymphocytes are present, in decent numbers, and they are not getting in.</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Endothelial ↔ perivascular at +41 is the positive control: two types that must be adjacent, and are.</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2 §3  ·  sq.gr.spatial_neighbors(delaunay=True) + sq.gr.nhood_enrichment, 200 permutations</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Niches built with no knowledge of position come out spatially coherent</a:t>
            </a:r>
            <a:endParaRPr lang="en-US" sz="2400" dirty="0"/>
          </a:p>
        </p:txBody>
      </p:sp>
      <p:pic>
        <p:nvPicPr>
          <p:cNvPr id="3" name="Image 0" descr="/scratch/user/uqxtan9/analysis_project/ASI_FIMSA_workshop/slides/figures/nb02_niches_on_tissue.png">    </p:cNvPr>
          <p:cNvPicPr>
            <a:picLocks noChangeAspect="1"/>
          </p:cNvPicPr>
          <p:nvPr/>
        </p:nvPicPr>
        <p:blipFill>
          <a:blip r:embed="rId1"/>
          <a:stretch>
            <a:fillRect/>
          </a:stretch>
        </p:blipFill>
        <p:spPr>
          <a:xfrm>
            <a:off x="502920" y="1983814"/>
            <a:ext cx="6720840" cy="2908660"/>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Neighbourhood composition from the 20 nearest cells (about 60 µm), then KMeans into 8 niches.</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The clustering never saw a coordinate, only the mix of types around each cell. The coherence was in the tissue.</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k is the spatial-scale knob. A niche is a property of a tissue at a stated scale.</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2 §4.3  ·  kNN composition + MiniBatchKMeans  ·  adapted from gml-teaching-2026, 3.2_neighborhood.ipynb</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Tumour interiors sit 15 or more cell-to-cell steps from the nearest immune cell</a:t>
            </a:r>
            <a:endParaRPr lang="en-US" sz="2400" dirty="0"/>
          </a:p>
        </p:txBody>
      </p:sp>
      <p:pic>
        <p:nvPicPr>
          <p:cNvPr id="3" name="Image 0" descr="/scratch/user/uqxtan9/analysis_project/ASI_FIMSA_workshop/slides/figures/nb02_hops_to_immune.jpg">    </p:cNvPr>
          <p:cNvPicPr>
            <a:picLocks noChangeAspect="1"/>
          </p:cNvPicPr>
          <p:nvPr/>
        </p:nvPicPr>
        <p:blipFill>
          <a:blip r:embed="rId1"/>
          <a:stretch>
            <a:fillRect/>
          </a:stretch>
        </p:blipFill>
        <p:spPr>
          <a:xfrm>
            <a:off x="502920" y="1915076"/>
            <a:ext cx="6720840" cy="3046136"/>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sopa turns each niche into a polygon you can measure: area, roundness, and distance in graph hops.</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Median hops to the immune infiltrate niche: tumour epithelial 9, proliferating tumour 7, T cells 0.</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Dendritic cells sit closer to the tumour niches than T cells do. This is "immune-excluded" as a number.</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2 §5.4  ·  sopa.spatial.vectorize_niches / cells_to_groups / mean_distance</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Tutorial 3: adjacency is not conversation</a:t>
            </a:r>
            <a:endParaRPr lang="en-US" sz="2400" dirty="0"/>
          </a:p>
        </p:txBody>
      </p:sp>
      <p:sp>
        <p:nvSpPr>
          <p:cNvPr id="3" name="Shape 1"/>
          <p:cNvSpPr/>
          <p:nvPr/>
        </p:nvSpPr>
        <p:spPr>
          <a:xfrm>
            <a:off x="640080" y="1207008"/>
            <a:ext cx="3465576" cy="2395728"/>
          </a:xfrm>
          <a:prstGeom prst="roundRect">
            <a:avLst>
              <a:gd name="adj" fmla="val 2672"/>
            </a:avLst>
          </a:prstGeom>
          <a:solidFill>
            <a:srgbClr val="F2F2F2"/>
          </a:solidFill>
          <a:ln w="12700">
            <a:solidFill>
              <a:srgbClr val="F2F2F2"/>
            </a:solidFill>
            <a:prstDash val="solid"/>
          </a:ln>
        </p:spPr>
      </p:sp>
      <p:sp>
        <p:nvSpPr>
          <p:cNvPr id="4" name="Text 2"/>
          <p:cNvSpPr/>
          <p:nvPr/>
        </p:nvSpPr>
        <p:spPr>
          <a:xfrm>
            <a:off x="804672" y="1335024"/>
            <a:ext cx="3136392" cy="347472"/>
          </a:xfrm>
          <a:prstGeom prst="rect">
            <a:avLst/>
          </a:prstGeom>
          <a:noFill/>
          <a:ln/>
        </p:spPr>
        <p:txBody>
          <a:bodyPr wrap="square" lIns="0" tIns="0" rIns="0" bIns="0" rtlCol="0" anchor="t"/>
          <a:lstStyle/>
          <a:p>
            <a:pPr indent="0" marL="0">
              <a:buNone/>
            </a:pPr>
            <a:r>
              <a:rPr lang="en-US" sz="1600" b="1" dirty="0">
                <a:solidFill>
                  <a:srgbClr val="C00000"/>
                </a:solidFill>
                <a:latin typeface="Arial" pitchFamily="34" charset="0"/>
                <a:ea typeface="Arial" pitchFamily="34" charset="-122"/>
                <a:cs typeface="Arial" pitchFamily="34" charset="-120"/>
              </a:rPr>
              <a:t>What is measured</a:t>
            </a:r>
            <a:endParaRPr lang="en-US" sz="1600" dirty="0"/>
          </a:p>
        </p:txBody>
      </p:sp>
      <p:sp>
        <p:nvSpPr>
          <p:cNvPr id="5" name="Text 3"/>
          <p:cNvSpPr/>
          <p:nvPr/>
        </p:nvSpPr>
        <p:spPr>
          <a:xfrm>
            <a:off x="804672" y="1755648"/>
            <a:ext cx="3136392" cy="475488"/>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Two mRNAs and a distance</a:t>
            </a:r>
            <a:endParaRPr lang="en-US" sz="1700" dirty="0"/>
          </a:p>
        </p:txBody>
      </p:sp>
      <p:sp>
        <p:nvSpPr>
          <p:cNvPr id="6" name="Text 4"/>
          <p:cNvSpPr/>
          <p:nvPr/>
        </p:nvSpPr>
        <p:spPr>
          <a:xfrm>
            <a:off x="804672" y="2340864"/>
            <a:ext cx="3136392" cy="1115568"/>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Ligand mRNA in one population, receptor mRNA in another, and how far apart the cells sit.</a:t>
            </a:r>
            <a:endParaRPr lang="en-US" sz="1400" dirty="0"/>
          </a:p>
        </p:txBody>
      </p:sp>
      <p:sp>
        <p:nvSpPr>
          <p:cNvPr id="7" name="Shape 5"/>
          <p:cNvSpPr/>
          <p:nvPr/>
        </p:nvSpPr>
        <p:spPr>
          <a:xfrm>
            <a:off x="4361688" y="1207008"/>
            <a:ext cx="3465576" cy="2395728"/>
          </a:xfrm>
          <a:prstGeom prst="roundRect">
            <a:avLst>
              <a:gd name="adj" fmla="val 2672"/>
            </a:avLst>
          </a:prstGeom>
          <a:solidFill>
            <a:srgbClr val="F2F2F2"/>
          </a:solidFill>
          <a:ln w="12700">
            <a:solidFill>
              <a:srgbClr val="F2F2F2"/>
            </a:solidFill>
            <a:prstDash val="solid"/>
          </a:ln>
        </p:spPr>
      </p:sp>
      <p:sp>
        <p:nvSpPr>
          <p:cNvPr id="8" name="Text 6"/>
          <p:cNvSpPr/>
          <p:nvPr/>
        </p:nvSpPr>
        <p:spPr>
          <a:xfrm>
            <a:off x="4526280" y="1335024"/>
            <a:ext cx="3136392" cy="347472"/>
          </a:xfrm>
          <a:prstGeom prst="rect">
            <a:avLst/>
          </a:prstGeom>
          <a:noFill/>
          <a:ln/>
        </p:spPr>
        <p:txBody>
          <a:bodyPr wrap="square" lIns="0" tIns="0" rIns="0" bIns="0" rtlCol="0" anchor="t"/>
          <a:lstStyle/>
          <a:p>
            <a:pPr indent="0" marL="0">
              <a:buNone/>
            </a:pPr>
            <a:r>
              <a:rPr lang="en-US" sz="1600" b="1" dirty="0">
                <a:solidFill>
                  <a:srgbClr val="C00000"/>
                </a:solidFill>
                <a:latin typeface="Arial" pitchFamily="34" charset="0"/>
                <a:ea typeface="Arial" pitchFamily="34" charset="-122"/>
                <a:cs typeface="Arial" pitchFamily="34" charset="-120"/>
              </a:rPr>
              <a:t>What is claimed</a:t>
            </a:r>
            <a:endParaRPr lang="en-US" sz="1600" dirty="0"/>
          </a:p>
        </p:txBody>
      </p:sp>
      <p:sp>
        <p:nvSpPr>
          <p:cNvPr id="9" name="Text 7"/>
          <p:cNvSpPr/>
          <p:nvPr/>
        </p:nvSpPr>
        <p:spPr>
          <a:xfrm>
            <a:off x="4526280" y="1755648"/>
            <a:ext cx="3136392" cy="475488"/>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A signalling axis</a:t>
            </a:r>
            <a:endParaRPr lang="en-US" sz="1700" dirty="0"/>
          </a:p>
        </p:txBody>
      </p:sp>
      <p:sp>
        <p:nvSpPr>
          <p:cNvPr id="10" name="Text 8"/>
          <p:cNvSpPr/>
          <p:nvPr/>
        </p:nvSpPr>
        <p:spPr>
          <a:xfrm>
            <a:off x="4526280" y="2340864"/>
            <a:ext cx="3136392" cy="1115568"/>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That these two populations are communicating through this pair, somewhere in this tissue.</a:t>
            </a:r>
            <a:endParaRPr lang="en-US" sz="1400" dirty="0"/>
          </a:p>
        </p:txBody>
      </p:sp>
      <p:sp>
        <p:nvSpPr>
          <p:cNvPr id="11" name="Shape 9"/>
          <p:cNvSpPr/>
          <p:nvPr/>
        </p:nvSpPr>
        <p:spPr>
          <a:xfrm>
            <a:off x="8083296" y="1207008"/>
            <a:ext cx="3465576" cy="2395728"/>
          </a:xfrm>
          <a:prstGeom prst="roundRect">
            <a:avLst>
              <a:gd name="adj" fmla="val 2672"/>
            </a:avLst>
          </a:prstGeom>
          <a:solidFill>
            <a:srgbClr val="F2F2F2"/>
          </a:solidFill>
          <a:ln w="12700">
            <a:solidFill>
              <a:srgbClr val="F2F2F2"/>
            </a:solidFill>
            <a:prstDash val="solid"/>
          </a:ln>
        </p:spPr>
      </p:sp>
      <p:sp>
        <p:nvSpPr>
          <p:cNvPr id="12" name="Text 10"/>
          <p:cNvSpPr/>
          <p:nvPr/>
        </p:nvSpPr>
        <p:spPr>
          <a:xfrm>
            <a:off x="8247888" y="1335024"/>
            <a:ext cx="3136392" cy="347472"/>
          </a:xfrm>
          <a:prstGeom prst="rect">
            <a:avLst/>
          </a:prstGeom>
          <a:noFill/>
          <a:ln/>
        </p:spPr>
        <p:txBody>
          <a:bodyPr wrap="square" lIns="0" tIns="0" rIns="0" bIns="0" rtlCol="0" anchor="t"/>
          <a:lstStyle/>
          <a:p>
            <a:pPr indent="0" marL="0">
              <a:buNone/>
            </a:pPr>
            <a:r>
              <a:rPr lang="en-US" sz="1600" b="1" dirty="0">
                <a:solidFill>
                  <a:srgbClr val="C00000"/>
                </a:solidFill>
                <a:latin typeface="Arial" pitchFamily="34" charset="0"/>
                <a:ea typeface="Arial" pitchFamily="34" charset="-122"/>
                <a:cs typeface="Arial" pitchFamily="34" charset="-120"/>
              </a:rPr>
              <a:t>What is never measured</a:t>
            </a:r>
            <a:endParaRPr lang="en-US" sz="1600" dirty="0"/>
          </a:p>
        </p:txBody>
      </p:sp>
      <p:sp>
        <p:nvSpPr>
          <p:cNvPr id="13" name="Text 11"/>
          <p:cNvSpPr/>
          <p:nvPr/>
        </p:nvSpPr>
        <p:spPr>
          <a:xfrm>
            <a:off x="8247888" y="1755648"/>
            <a:ext cx="3136392" cy="475488"/>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Everything in between</a:t>
            </a:r>
            <a:endParaRPr lang="en-US" sz="1700" dirty="0"/>
          </a:p>
        </p:txBody>
      </p:sp>
      <p:sp>
        <p:nvSpPr>
          <p:cNvPr id="14" name="Text 12"/>
          <p:cNvSpPr/>
          <p:nvPr/>
        </p:nvSpPr>
        <p:spPr>
          <a:xfrm>
            <a:off x="8247888" y="2340864"/>
            <a:ext cx="3136392" cy="1115568"/>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Protein, secretion, contact, receptor engagement, or anything downstream of it.</a:t>
            </a:r>
            <a:endParaRPr lang="en-US" sz="1400" dirty="0"/>
          </a:p>
        </p:txBody>
      </p:sp>
      <p:sp>
        <p:nvSpPr>
          <p:cNvPr id="15" name="Text 13"/>
          <p:cNvSpPr/>
          <p:nvPr/>
        </p:nvSpPr>
        <p:spPr>
          <a:xfrm>
            <a:off x="640080" y="4023360"/>
            <a:ext cx="10908792" cy="822960"/>
          </a:xfrm>
          <a:prstGeom prst="rect">
            <a:avLst/>
          </a:prstGeom>
          <a:noFill/>
          <a:ln/>
        </p:spPr>
        <p:txBody>
          <a:bodyPr wrap="square" lIns="0" tIns="0" rIns="0" bIns="0" rtlCol="0" anchor="t"/>
          <a:lstStyle/>
          <a:p>
            <a:pPr indent="0" marL="0">
              <a:buNone/>
            </a:pPr>
            <a:r>
              <a:rPr lang="en-US" sz="1900" dirty="0">
                <a:solidFill>
                  <a:srgbClr val="000000"/>
                </a:solidFill>
                <a:latin typeface="Arial" pitchFamily="34" charset="0"/>
                <a:ea typeface="Arial" pitchFamily="34" charset="-122"/>
                <a:cs typeface="Arial" pitchFamily="34" charset="-120"/>
              </a:rPr>
              <a:t>The gap is not a flaw to apologise for. It is what makes this a hypothesis generator with coordinates, rather than a result.</a:t>
            </a:r>
            <a:endParaRPr lang="en-US" sz="19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LIANA+ is a consensus of five scores over a database somebody curated</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170432"/>
          <a:ext cx="10908792" cy="914400"/>
        </p:xfrm>
        <a:graphic>
          <a:graphicData uri="http://schemas.openxmlformats.org/drawingml/2006/table">
            <a:tbl>
              <a:tblPr/>
              <a:tblGrid>
                <a:gridCol w="2834640"/>
                <a:gridCol w="8074152"/>
              </a:tblGrid>
              <a:tr h="475488">
                <a:tc>
                  <a:txBody>
                    <a:bodyPr/>
                    <a:lstStyle/>
                    <a:p>
                      <a:pPr indent="0" marL="0">
                        <a:buNone/>
                      </a:pPr>
                      <a:r>
                        <a:rPr lang="en-US" sz="1500" b="1" dirty="0">
                          <a:solidFill>
                            <a:srgbClr val="FFFFFF"/>
                          </a:solidFill>
                          <a:latin typeface="Arial" pitchFamily="34" charset="0"/>
                          <a:ea typeface="Arial" pitchFamily="34" charset="-122"/>
                          <a:cs typeface="Arial" pitchFamily="34" charset="-120"/>
                        </a:rPr>
                        <a:t>Score</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What it rewards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C00000"/>
                    </a:solidFill>
                  </a:tcPr>
                </a:tc>
              </a:tr>
              <a:tr h="475488">
                <a:tc>
                  <a:txBody>
                    <a:bodyPr/>
                    <a:lstStyle/>
                    <a:p>
                      <a:pPr indent="0" marL="0">
                        <a:buNone/>
                      </a:pPr>
                      <a:r>
                        <a:rPr lang="en-US" sz="1500" b="1" dirty="0">
                          <a:solidFill>
                            <a:srgbClr val="000000"/>
                          </a:solidFill>
                          <a:latin typeface="Arial" pitchFamily="34" charset="0"/>
                          <a:ea typeface="Arial" pitchFamily="34" charset="-122"/>
                          <a:cs typeface="Arial" pitchFamily="34" charset="-120"/>
                        </a:rPr>
                        <a:t>CellPhoneDB</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a pair expressed in a high fraction of both populations, tested against permuted labels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475488">
                <a:tc>
                  <a:txBody>
                    <a:bodyPr/>
                    <a:lstStyle/>
                    <a:p>
                      <a:pPr indent="0" marL="0">
                        <a:buNone/>
                      </a:pPr>
                      <a:r>
                        <a:rPr lang="en-US" sz="1500" b="1" dirty="0">
                          <a:solidFill>
                            <a:srgbClr val="000000"/>
                          </a:solidFill>
                          <a:latin typeface="Arial" pitchFamily="34" charset="0"/>
                          <a:ea typeface="Arial" pitchFamily="34" charset="-122"/>
                          <a:cs typeface="Arial" pitchFamily="34" charset="-120"/>
                        </a:rPr>
                        <a:t>Connectome</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a pair whose ligand and receptor are both high relative to the other populations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475488">
                <a:tc>
                  <a:txBody>
                    <a:bodyPr/>
                    <a:lstStyle/>
                    <a:p>
                      <a:pPr indent="0" marL="0">
                        <a:buNone/>
                      </a:pPr>
                      <a:r>
                        <a:rPr lang="en-US" sz="1500" b="1" dirty="0">
                          <a:solidFill>
                            <a:srgbClr val="000000"/>
                          </a:solidFill>
                          <a:latin typeface="Arial" pitchFamily="34" charset="0"/>
                          <a:ea typeface="Arial" pitchFamily="34" charset="-122"/>
                          <a:cs typeface="Arial" pitchFamily="34" charset="-120"/>
                        </a:rPr>
                        <a:t>log2FC</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a pair enriched in this sender and this receiver against everything else</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475488">
                <a:tc>
                  <a:txBody>
                    <a:bodyPr/>
                    <a:lstStyle/>
                    <a:p>
                      <a:pPr indent="0" marL="0">
                        <a:buNone/>
                      </a:pPr>
                      <a:r>
                        <a:rPr lang="en-US" sz="1500" b="1" dirty="0">
                          <a:solidFill>
                            <a:srgbClr val="000000"/>
                          </a:solidFill>
                          <a:latin typeface="Arial" pitchFamily="34" charset="0"/>
                          <a:ea typeface="Arial" pitchFamily="34" charset="-122"/>
                          <a:cs typeface="Arial" pitchFamily="34" charset="-120"/>
                        </a:rPr>
                        <a:t>NATMI</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specificity: a pair carried by these two populations and few others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475488">
                <a:tc>
                  <a:txBody>
                    <a:bodyPr/>
                    <a:lstStyle/>
                    <a:p>
                      <a:pPr indent="0" marL="0">
                        <a:buNone/>
                      </a:pPr>
                      <a:r>
                        <a:rPr lang="en-US" sz="1500" b="1" dirty="0">
                          <a:solidFill>
                            <a:srgbClr val="000000"/>
                          </a:solidFill>
                          <a:latin typeface="Arial" pitchFamily="34" charset="0"/>
                          <a:ea typeface="Arial" pitchFamily="34" charset="-122"/>
                          <a:cs typeface="Arial" pitchFamily="34" charset="-120"/>
                        </a:rPr>
                        <a:t>SingleCellSignalR</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500" dirty="0">
                          <a:solidFill>
                            <a:srgbClr val="000000"/>
                          </a:solidFill>
                          <a:latin typeface="Arial" pitchFamily="34" charset="0"/>
                          <a:ea typeface="Arial" pitchFamily="34" charset="-122"/>
                          <a:cs typeface="Arial" pitchFamily="34" charset="-120"/>
                        </a:rPr>
                        <a:t>magnitude: the LRscore, a bounded product of the two expression levels</a:t>
                      </a:r>
                      <a:endParaRPr lang="en-US" sz="1500" dirty="0">
                        <a:latin typeface="Arial" charset="0"/>
                        <a:ea typeface="Arial" charset="0"/>
                        <a:cs typeface="Arial" charset="0"/>
                      </a:endParaRPr>
                    </a:p>
                  </a:txBody>
                  <a:tcPr marL="76200" marR="76200" marT="76200" marB="7620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bl>
          </a:graphicData>
        </a:graphic>
      </p:graphicFrame>
      <p:sp>
        <p:nvSpPr>
          <p:cNvPr id="4" name="Text 1"/>
          <p:cNvSpPr/>
          <p:nvPr/>
        </p:nvSpPr>
        <p:spPr>
          <a:xfrm>
            <a:off x="640080" y="4224528"/>
            <a:ext cx="10908792" cy="1536192"/>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RobustRankAggregate combines the five into magnitude_rank and specificity_rank. Smaller is stronger, and smaller is more specific.</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Complexes are encoded, so LFA-1 is ITGAL_ITGB2 and every subunit must be measured. A pair absent from the database is not refuted; it is never asked.</a:t>
            </a:r>
            <a:endParaRPr lang="en-US" sz="18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Space enters as a kernel over distance, and you choose the scale</a:t>
            </a:r>
            <a:endParaRPr lang="en-US" sz="2400" dirty="0"/>
          </a:p>
        </p:txBody>
      </p:sp>
      <p:pic>
        <p:nvPicPr>
          <p:cNvPr id="3" name="Image 0" descr="/scratch/user/uqxtan9/analysis_project/ASI_FIMSA_workshop/slides/figures/nb03_proximity.png">    </p:cNvPr>
          <p:cNvPicPr>
            <a:picLocks noChangeAspect="1"/>
          </p:cNvPicPr>
          <p:nvPr/>
        </p:nvPicPr>
        <p:blipFill>
          <a:blip r:embed="rId1"/>
          <a:stretch>
            <a:fillRect/>
          </a:stretch>
        </p:blipFill>
        <p:spPr>
          <a:xfrm>
            <a:off x="1106023" y="1143000"/>
            <a:ext cx="5514634" cy="4590288"/>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A Gaussian kernel weights every pair by how far apart the cells are, with a cutoff below which the pair stops counting.</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Two questions, two bandwidths: 15 µm for per-cell local scores, 30 µm for between-population proximity.</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This matrix is the population-scale object: how close, on average, each sender sits to each receiver.</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3 §4.1  ·  li.ut.spatial_pair_proximity, 30 µm bandwidth  ·  directed: sender rows, receiver columns</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The gene panel decides which questions you are allowed to ask</a:t>
            </a:r>
            <a:endParaRPr lang="en-US" sz="2400" dirty="0"/>
          </a:p>
        </p:txBody>
      </p:sp>
      <p:pic>
        <p:nvPicPr>
          <p:cNvPr id="3" name="Image 0" descr="/scratch/user/uqxtan9/analysis_project/ASI_FIMSA_workshop/slides/figures/nb03_panel_support.png">    </p:cNvPr>
          <p:cNvPicPr>
            <a:picLocks noChangeAspect="1"/>
          </p:cNvPicPr>
          <p:nvPr/>
        </p:nvPicPr>
        <p:blipFill>
          <a:blip r:embed="rId1"/>
          <a:stretch>
            <a:fillRect/>
          </a:stretch>
        </p:blipFill>
        <p:spPr>
          <a:xfrm>
            <a:off x="2276414" y="1115568"/>
            <a:ext cx="7636125" cy="2926080"/>
          </a:xfrm>
          <a:prstGeom prst="rect">
            <a:avLst/>
          </a:prstGeom>
        </p:spPr>
      </p:pic>
      <p:sp>
        <p:nvSpPr>
          <p:cNvPr id="4" name="Text 1"/>
          <p:cNvSpPr/>
          <p:nvPr/>
        </p:nvSpPr>
        <p:spPr>
          <a:xfrm>
            <a:off x="640080" y="4187952"/>
            <a:ext cx="10908792" cy="1572768"/>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Two databases, the same 16,006 cells. The 1,673-gene panel supports 3,738 testable interactions; the 69-gene panel supports four.</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An interaction counts only if every subunit is measured. LFA-1 is ITGAL_ITGB2, not ITGAL.</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Intersect the analysis you intend to run with the probe list before you buy the panel.</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3 §1.2  ·  LIANA+ consensus resource and connectomeDB2020</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The top of a ranked ligand–receptor list follows abundance, not importance</a:t>
            </a:r>
            <a:endParaRPr lang="en-US" sz="2400" dirty="0"/>
          </a:p>
        </p:txBody>
      </p:sp>
      <p:pic>
        <p:nvPicPr>
          <p:cNvPr id="3" name="Image 0" descr="/scratch/user/uqxtan9/analysis_project/ASI_FIMSA_workshop/slides/figures/nb03_top_pairs.png">    </p:cNvPr>
          <p:cNvPicPr>
            <a:picLocks noChangeAspect="1"/>
          </p:cNvPicPr>
          <p:nvPr/>
        </p:nvPicPr>
        <p:blipFill>
          <a:blip r:embed="rId1"/>
          <a:stretch>
            <a:fillRect/>
          </a:stretch>
        </p:blipFill>
        <p:spPr>
          <a:xfrm>
            <a:off x="1637308" y="1115568"/>
            <a:ext cx="8914337" cy="2926080"/>
          </a:xfrm>
          <a:prstGeom prst="rect">
            <a:avLst/>
          </a:prstGeom>
        </p:spPr>
      </p:pic>
      <p:sp>
        <p:nvSpPr>
          <p:cNvPr id="4" name="Text 1"/>
          <p:cNvSpPr/>
          <p:nvPr/>
        </p:nvSpPr>
        <p:spPr>
          <a:xfrm>
            <a:off x="640080" y="4187952"/>
            <a:ext cx="10908792" cy="1572768"/>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LIANA+ is a consensus, not a method: five scores rank-aggregated into a single ordering.</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GNAS is detected in 74% of cells, ARF1 in 57%, CDH1 in 53%. The ranking reports opportunity.</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Five statistics computed over one matrix are not five independent experiments.</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3 §3.1  ·  li.mt.rank_aggregate, expr_prop 0.05, min_cells 20, 100 permutations</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Spatial weighting re-orders almost everything. It is a constraint, not an accuracy.</a:t>
            </a:r>
            <a:endParaRPr lang="en-US" sz="2400" dirty="0"/>
          </a:p>
        </p:txBody>
      </p:sp>
      <p:pic>
        <p:nvPicPr>
          <p:cNvPr id="3" name="Image 0" descr="/scratch/user/uqxtan9/analysis_project/ASI_FIMSA_workshop/slides/figures/nb03_spatial_ab.png">    </p:cNvPr>
          <p:cNvPicPr>
            <a:picLocks noChangeAspect="1"/>
          </p:cNvPicPr>
          <p:nvPr/>
        </p:nvPicPr>
        <p:blipFill>
          <a:blip r:embed="rId1"/>
          <a:stretch>
            <a:fillRect/>
          </a:stretch>
        </p:blipFill>
        <p:spPr>
          <a:xfrm>
            <a:off x="2362231" y="1115568"/>
            <a:ext cx="7464490" cy="2926080"/>
          </a:xfrm>
          <a:prstGeom prst="rect">
            <a:avLst/>
          </a:prstGeom>
        </p:spPr>
      </p:pic>
      <p:sp>
        <p:nvSpPr>
          <p:cNvPr id="4" name="Text 1"/>
          <p:cNvSpPr/>
          <p:nvPr/>
        </p:nvSpPr>
        <p:spPr>
          <a:xfrm>
            <a:off x="640080" y="4187952"/>
            <a:ext cx="10908792" cy="1572768"/>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The same consensus run twice, expression only then spatially weighted: 53.7% promoted, 46.3% demoted.</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Spatial weighting is not a filter. It asks a different question, and nearly every pair moves.</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Bandwidth is not a radius: the furthest cell above cutoff sits at 2.15 × bandwidth.</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3 §5.1  ·  30,469 unsaturated cross-population rows; saturated magnitude_rank = 1.0 excluded first</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CXCL12–CXCR4 paints the same immune-exclusion geometry Tutorial 2 drew</a:t>
            </a:r>
            <a:endParaRPr lang="en-US" sz="2400" dirty="0"/>
          </a:p>
        </p:txBody>
      </p:sp>
      <p:pic>
        <p:nvPicPr>
          <p:cNvPr id="3" name="Image 0" descr="/scratch/user/uqxtan9/analysis_project/ASI_FIMSA_workshop/slides/figures/nb03_local_cxcl12.jpg">    </p:cNvPr>
          <p:cNvPicPr>
            <a:picLocks noChangeAspect="1"/>
          </p:cNvPicPr>
          <p:nvPr/>
        </p:nvPicPr>
        <p:blipFill>
          <a:blip r:embed="rId1"/>
          <a:stretch>
            <a:fillRect/>
          </a:stretch>
        </p:blipFill>
        <p:spPr>
          <a:xfrm>
            <a:off x="1330691" y="1143000"/>
            <a:ext cx="5065298" cy="4590288"/>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Per-cell local scores, not one number per population. The signal fills the stroma between the epithelial blocks and avoids the tumour nests.</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 cell ↔ dendritic cell dominates the immune half of this tumour. ICAM1–ITGAL/ITGB2 is the adhesion step of the immunological synapse.</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CD274–PDCD1 is filtered out entirely. That is a statement about detection, not about the tumour.</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3 §6.1  ·  li.mt.bivariate, bandwidth 15 µm, Moran’s R  ·  LIANA+: Dimitrov et al., Nat Cell Biol 26, 1613 (2024)</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Tutorial 4: can a model read biology off morphology, gene by gene?</a:t>
            </a:r>
            <a:endParaRPr lang="en-US" sz="2400" dirty="0"/>
          </a:p>
        </p:txBody>
      </p:sp>
      <p:pic>
        <p:nvPicPr>
          <p:cNvPr id="3" name="Image 0" descr="/scratch/user/uqxtan9/analysis_project/ASI_FIMSA_workshop/slides/figures/nb04_spots_on_image.jpg">    </p:cNvPr>
          <p:cNvPicPr>
            <a:picLocks noChangeAspect="1"/>
          </p:cNvPicPr>
          <p:nvPr/>
        </p:nvPicPr>
        <p:blipFill>
          <a:blip r:embed="rId1"/>
          <a:stretch>
            <a:fillRect/>
          </a:stretch>
        </p:blipFill>
        <p:spPr>
          <a:xfrm>
            <a:off x="502920" y="1700318"/>
            <a:ext cx="6720840" cy="3475652"/>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Every Visium spot carries two things: a patch of H&amp;E and a vector of gene counts. The question is whether the first predicts the second.</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A pathologist already does a version of this by eye. This asks for it quantitatively, one gene at a time.</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The lineage: ST-Net and HE2RNA in 2020, then HisToGene. Production methods now start from a pathology foundation model.</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4 §1.2  ·  Visium V1_Breast_Cancer_Block_A_Section_1, 3,798 spots under tissue</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A Transformer is tokens, attention, and one token that reads the whole set</a:t>
            </a:r>
            <a:endParaRPr lang="en-US" sz="2400" dirty="0"/>
          </a:p>
        </p:txBody>
      </p:sp>
      <p:sp>
        <p:nvSpPr>
          <p:cNvPr id="3" name="Shape 1"/>
          <p:cNvSpPr/>
          <p:nvPr/>
        </p:nvSpPr>
        <p:spPr>
          <a:xfrm>
            <a:off x="640080" y="1161288"/>
            <a:ext cx="2548890" cy="2157984"/>
          </a:xfrm>
          <a:prstGeom prst="roundRect">
            <a:avLst>
              <a:gd name="adj" fmla="val 2966"/>
            </a:avLst>
          </a:prstGeom>
          <a:solidFill>
            <a:srgbClr val="F2F2F2"/>
          </a:solidFill>
          <a:ln w="12700">
            <a:solidFill>
              <a:srgbClr val="F2F2F2"/>
            </a:solidFill>
            <a:prstDash val="solid"/>
          </a:ln>
        </p:spPr>
      </p:sp>
      <p:sp>
        <p:nvSpPr>
          <p:cNvPr id="4" name="Text 2"/>
          <p:cNvSpPr/>
          <p:nvPr/>
        </p:nvSpPr>
        <p:spPr>
          <a:xfrm>
            <a:off x="804672" y="1289304"/>
            <a:ext cx="2219706" cy="347472"/>
          </a:xfrm>
          <a:prstGeom prst="rect">
            <a:avLst/>
          </a:prstGeom>
          <a:noFill/>
          <a:ln/>
        </p:spPr>
        <p:txBody>
          <a:bodyPr wrap="square" lIns="0" tIns="0" rIns="0" bIns="0" rtlCol="0" anchor="t"/>
          <a:lstStyle/>
          <a:p>
            <a:pPr indent="0" marL="0">
              <a:buNone/>
            </a:pPr>
            <a:r>
              <a:rPr lang="en-US" sz="1800" b="1" dirty="0">
                <a:solidFill>
                  <a:srgbClr val="C00000"/>
                </a:solidFill>
                <a:latin typeface="Arial" pitchFamily="34" charset="0"/>
                <a:ea typeface="Arial" pitchFamily="34" charset="-122"/>
                <a:cs typeface="Arial" pitchFamily="34" charset="-120"/>
              </a:rPr>
              <a:t>A token</a:t>
            </a:r>
            <a:endParaRPr lang="en-US" sz="1800" dirty="0"/>
          </a:p>
        </p:txBody>
      </p:sp>
      <p:sp>
        <p:nvSpPr>
          <p:cNvPr id="5" name="Text 3"/>
          <p:cNvSpPr/>
          <p:nvPr/>
        </p:nvSpPr>
        <p:spPr>
          <a:xfrm>
            <a:off x="804672" y="1618488"/>
            <a:ext cx="2219706" cy="512064"/>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One thing, as a vector</a:t>
            </a:r>
            <a:endParaRPr lang="en-US" sz="1600" dirty="0"/>
          </a:p>
        </p:txBody>
      </p:sp>
      <p:sp>
        <p:nvSpPr>
          <p:cNvPr id="6" name="Text 4"/>
          <p:cNvSpPr/>
          <p:nvPr/>
        </p:nvSpPr>
        <p:spPr>
          <a:xfrm>
            <a:off x="804672" y="2185416"/>
            <a:ext cx="2219706" cy="987552"/>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A word in a sentence, or here a small patch of the image.</a:t>
            </a:r>
            <a:endParaRPr lang="en-US" sz="1400" dirty="0"/>
          </a:p>
        </p:txBody>
      </p:sp>
      <p:sp>
        <p:nvSpPr>
          <p:cNvPr id="7" name="Shape 5"/>
          <p:cNvSpPr/>
          <p:nvPr/>
        </p:nvSpPr>
        <p:spPr>
          <a:xfrm>
            <a:off x="3426714" y="1161288"/>
            <a:ext cx="2548890" cy="2157984"/>
          </a:xfrm>
          <a:prstGeom prst="roundRect">
            <a:avLst>
              <a:gd name="adj" fmla="val 2966"/>
            </a:avLst>
          </a:prstGeom>
          <a:solidFill>
            <a:srgbClr val="F2F2F2"/>
          </a:solidFill>
          <a:ln w="12700">
            <a:solidFill>
              <a:srgbClr val="F2F2F2"/>
            </a:solidFill>
            <a:prstDash val="solid"/>
          </a:ln>
        </p:spPr>
      </p:sp>
      <p:sp>
        <p:nvSpPr>
          <p:cNvPr id="8" name="Text 6"/>
          <p:cNvSpPr/>
          <p:nvPr/>
        </p:nvSpPr>
        <p:spPr>
          <a:xfrm>
            <a:off x="3591306" y="1289304"/>
            <a:ext cx="2219706" cy="347472"/>
          </a:xfrm>
          <a:prstGeom prst="rect">
            <a:avLst/>
          </a:prstGeom>
          <a:noFill/>
          <a:ln/>
        </p:spPr>
        <p:txBody>
          <a:bodyPr wrap="square" lIns="0" tIns="0" rIns="0" bIns="0" rtlCol="0" anchor="t"/>
          <a:lstStyle/>
          <a:p>
            <a:pPr indent="0" marL="0">
              <a:buNone/>
            </a:pPr>
            <a:r>
              <a:rPr lang="en-US" sz="1800" b="1" dirty="0">
                <a:solidFill>
                  <a:srgbClr val="C00000"/>
                </a:solidFill>
                <a:latin typeface="Arial" pitchFamily="34" charset="0"/>
                <a:ea typeface="Arial" pitchFamily="34" charset="-122"/>
                <a:cs typeface="Arial" pitchFamily="34" charset="-120"/>
              </a:rPr>
              <a:t>Self-attention</a:t>
            </a:r>
            <a:endParaRPr lang="en-US" sz="1800" dirty="0"/>
          </a:p>
        </p:txBody>
      </p:sp>
      <p:sp>
        <p:nvSpPr>
          <p:cNvPr id="9" name="Text 7"/>
          <p:cNvSpPr/>
          <p:nvPr/>
        </p:nvSpPr>
        <p:spPr>
          <a:xfrm>
            <a:off x="3591306" y="1618488"/>
            <a:ext cx="2219706" cy="512064"/>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Everything asks everything</a:t>
            </a:r>
            <a:endParaRPr lang="en-US" sz="1600" dirty="0"/>
          </a:p>
        </p:txBody>
      </p:sp>
      <p:sp>
        <p:nvSpPr>
          <p:cNvPr id="10" name="Text 8"/>
          <p:cNvSpPr/>
          <p:nvPr/>
        </p:nvSpPr>
        <p:spPr>
          <a:xfrm>
            <a:off x="3591306" y="2185416"/>
            <a:ext cx="2219706" cy="987552"/>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Every token queries every other and mixes in whatever it finds relevant.</a:t>
            </a:r>
            <a:endParaRPr lang="en-US" sz="1400" dirty="0"/>
          </a:p>
        </p:txBody>
      </p:sp>
      <p:sp>
        <p:nvSpPr>
          <p:cNvPr id="11" name="Shape 9"/>
          <p:cNvSpPr/>
          <p:nvPr/>
        </p:nvSpPr>
        <p:spPr>
          <a:xfrm>
            <a:off x="6213348" y="1161288"/>
            <a:ext cx="2548890" cy="2157984"/>
          </a:xfrm>
          <a:prstGeom prst="roundRect">
            <a:avLst>
              <a:gd name="adj" fmla="val 2966"/>
            </a:avLst>
          </a:prstGeom>
          <a:solidFill>
            <a:srgbClr val="F2F2F2"/>
          </a:solidFill>
          <a:ln w="12700">
            <a:solidFill>
              <a:srgbClr val="F2F2F2"/>
            </a:solidFill>
            <a:prstDash val="solid"/>
          </a:ln>
        </p:spPr>
      </p:sp>
      <p:sp>
        <p:nvSpPr>
          <p:cNvPr id="12" name="Text 10"/>
          <p:cNvSpPr/>
          <p:nvPr/>
        </p:nvSpPr>
        <p:spPr>
          <a:xfrm>
            <a:off x="6377940" y="1289304"/>
            <a:ext cx="2219706" cy="347472"/>
          </a:xfrm>
          <a:prstGeom prst="rect">
            <a:avLst/>
          </a:prstGeom>
          <a:noFill/>
          <a:ln/>
        </p:spPr>
        <p:txBody>
          <a:bodyPr wrap="square" lIns="0" tIns="0" rIns="0" bIns="0" rtlCol="0" anchor="t"/>
          <a:lstStyle/>
          <a:p>
            <a:pPr indent="0" marL="0">
              <a:buNone/>
            </a:pPr>
            <a:r>
              <a:rPr lang="en-US" sz="1800" b="1" dirty="0">
                <a:solidFill>
                  <a:srgbClr val="C00000"/>
                </a:solidFill>
                <a:latin typeface="Arial" pitchFamily="34" charset="0"/>
                <a:ea typeface="Arial" pitchFamily="34" charset="-122"/>
                <a:cs typeface="Arial" pitchFamily="34" charset="-120"/>
              </a:rPr>
              <a:t>Position</a:t>
            </a:r>
            <a:endParaRPr lang="en-US" sz="1800" dirty="0"/>
          </a:p>
        </p:txBody>
      </p:sp>
      <p:sp>
        <p:nvSpPr>
          <p:cNvPr id="13" name="Text 11"/>
          <p:cNvSpPr/>
          <p:nvPr/>
        </p:nvSpPr>
        <p:spPr>
          <a:xfrm>
            <a:off x="6377940" y="1618488"/>
            <a:ext cx="2219706" cy="512064"/>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Added, not assumed</a:t>
            </a:r>
            <a:endParaRPr lang="en-US" sz="1600" dirty="0"/>
          </a:p>
        </p:txBody>
      </p:sp>
      <p:sp>
        <p:nvSpPr>
          <p:cNvPr id="14" name="Text 12"/>
          <p:cNvSpPr/>
          <p:nvPr/>
        </p:nvSpPr>
        <p:spPr>
          <a:xfrm>
            <a:off x="6377940" y="2185416"/>
            <a:ext cx="2219706" cy="987552"/>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Attention is blind to order, so where a token came from has to be told to it.</a:t>
            </a:r>
            <a:endParaRPr lang="en-US" sz="1400" dirty="0"/>
          </a:p>
        </p:txBody>
      </p:sp>
      <p:sp>
        <p:nvSpPr>
          <p:cNvPr id="15" name="Shape 13"/>
          <p:cNvSpPr/>
          <p:nvPr/>
        </p:nvSpPr>
        <p:spPr>
          <a:xfrm>
            <a:off x="8999982" y="1161288"/>
            <a:ext cx="2548890" cy="2157984"/>
          </a:xfrm>
          <a:prstGeom prst="roundRect">
            <a:avLst>
              <a:gd name="adj" fmla="val 2966"/>
            </a:avLst>
          </a:prstGeom>
          <a:solidFill>
            <a:srgbClr val="F2F2F2"/>
          </a:solidFill>
          <a:ln w="12700">
            <a:solidFill>
              <a:srgbClr val="F2F2F2"/>
            </a:solidFill>
            <a:prstDash val="solid"/>
          </a:ln>
        </p:spPr>
      </p:sp>
      <p:sp>
        <p:nvSpPr>
          <p:cNvPr id="16" name="Text 14"/>
          <p:cNvSpPr/>
          <p:nvPr/>
        </p:nvSpPr>
        <p:spPr>
          <a:xfrm>
            <a:off x="9164574" y="1289304"/>
            <a:ext cx="2219706" cy="347472"/>
          </a:xfrm>
          <a:prstGeom prst="rect">
            <a:avLst/>
          </a:prstGeom>
          <a:noFill/>
          <a:ln/>
        </p:spPr>
        <p:txBody>
          <a:bodyPr wrap="square" lIns="0" tIns="0" rIns="0" bIns="0" rtlCol="0" anchor="t"/>
          <a:lstStyle/>
          <a:p>
            <a:pPr indent="0" marL="0">
              <a:buNone/>
            </a:pPr>
            <a:r>
              <a:rPr lang="en-US" sz="1800" b="1" dirty="0">
                <a:solidFill>
                  <a:srgbClr val="C00000"/>
                </a:solidFill>
                <a:latin typeface="Arial" pitchFamily="34" charset="0"/>
                <a:ea typeface="Arial" pitchFamily="34" charset="-122"/>
                <a:cs typeface="Arial" pitchFamily="34" charset="-120"/>
              </a:rPr>
              <a:t>[CLS]</a:t>
            </a:r>
            <a:endParaRPr lang="en-US" sz="1800" dirty="0"/>
          </a:p>
        </p:txBody>
      </p:sp>
      <p:sp>
        <p:nvSpPr>
          <p:cNvPr id="17" name="Text 15"/>
          <p:cNvSpPr/>
          <p:nvPr/>
        </p:nvSpPr>
        <p:spPr>
          <a:xfrm>
            <a:off x="9164574" y="1618488"/>
            <a:ext cx="2219706" cy="512064"/>
          </a:xfrm>
          <a:prstGeom prst="rect">
            <a:avLst/>
          </a:prstGeom>
          <a:noFill/>
          <a:ln/>
        </p:spPr>
        <p:txBody>
          <a:bodyPr wrap="square" lIns="0" tIns="0" rIns="0" bIns="0" rtlCol="0" anchor="t"/>
          <a:lstStyle/>
          <a:p>
            <a:pPr indent="0" marL="0">
              <a:buNone/>
            </a:pPr>
            <a:r>
              <a:rPr lang="en-US" sz="1600" b="1" dirty="0">
                <a:solidFill>
                  <a:srgbClr val="000000"/>
                </a:solidFill>
                <a:latin typeface="Arial" pitchFamily="34" charset="0"/>
                <a:ea typeface="Arial" pitchFamily="34" charset="-122"/>
                <a:cs typeface="Arial" pitchFamily="34" charset="-120"/>
              </a:rPr>
              <a:t>The one that summarises</a:t>
            </a:r>
            <a:endParaRPr lang="en-US" sz="1600" dirty="0"/>
          </a:p>
        </p:txBody>
      </p:sp>
      <p:sp>
        <p:nvSpPr>
          <p:cNvPr id="18" name="Text 16"/>
          <p:cNvSpPr/>
          <p:nvPr/>
        </p:nvSpPr>
        <p:spPr>
          <a:xfrm>
            <a:off x="9164574" y="2185416"/>
            <a:ext cx="2219706" cy="987552"/>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A token belonging to no patch, which ends up carrying the answer for all of them.</a:t>
            </a:r>
            <a:endParaRPr lang="en-US" sz="1400" dirty="0"/>
          </a:p>
        </p:txBody>
      </p:sp>
      <p:sp>
        <p:nvSpPr>
          <p:cNvPr id="19" name="Text 17"/>
          <p:cNvSpPr/>
          <p:nvPr/>
        </p:nvSpPr>
        <p:spPr>
          <a:xfrm>
            <a:off x="640080" y="3584448"/>
            <a:ext cx="10908792" cy="2176272"/>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A block is attention, then a small MLP, each with a bypass around it so the signal can skip past. Stack three and that is the model.</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Nothing in that description is specific to images. Swap patches for words and it is a language model.</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You build it from nn.MultiheadAttention and nn.LayerNorm in about forty readable lines, not from a library call.</a:t>
            </a:r>
            <a:endParaRPr lang="en-US" sz="18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A gene you cannot detect is a gene you cannot predict</a:t>
            </a:r>
            <a:endParaRPr lang="en-US" sz="2400" dirty="0"/>
          </a:p>
        </p:txBody>
      </p:sp>
      <p:pic>
        <p:nvPicPr>
          <p:cNvPr id="3" name="Image 0" descr="/scratch/user/uqxtan9/analysis_project/ASI_FIMSA_workshop/slides/figures/nb04_marker_sparsity.jpg">    </p:cNvPr>
          <p:cNvPicPr>
            <a:picLocks noChangeAspect="1"/>
          </p:cNvPicPr>
          <p:nvPr/>
        </p:nvPicPr>
        <p:blipFill>
          <a:blip r:embed="rId1"/>
          <a:stretch>
            <a:fillRect/>
          </a:stretch>
        </p:blipFill>
        <p:spPr>
          <a:xfrm>
            <a:off x="640080" y="1132772"/>
            <a:ext cx="10908792" cy="2891671"/>
          </a:xfrm>
          <a:prstGeom prst="rect">
            <a:avLst/>
          </a:prstGeom>
        </p:spPr>
      </p:pic>
      <p:sp>
        <p:nvSpPr>
          <p:cNvPr id="4" name="Text 1"/>
          <p:cNvSpPr/>
          <p:nvPr/>
        </p:nvSpPr>
        <p:spPr>
          <a:xfrm>
            <a:off x="640080" y="4187952"/>
            <a:ext cx="10908792" cy="1572768"/>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KRT8 and COL1A1 are measured almost everywhere. PTPRC and CD3D are patchy, and mostly zero.</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Sixteen targets: twelve hand-picked breast and immune markers, topped up by dispersion, each z-scored per gene.</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The metric is one Pearson r per gene on held-out spots, not one number for the model.</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4 §3.1  ·  measured expression in tissue space, log-normalised</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One H&amp;E tile per spot, and full resolution is why a nucleus is 26 px and not 2</a:t>
            </a:r>
            <a:endParaRPr lang="en-US" sz="2400" dirty="0"/>
          </a:p>
        </p:txBody>
      </p:sp>
      <p:pic>
        <p:nvPicPr>
          <p:cNvPr id="3" name="Image 0" descr="/scratch/user/uqxtan9/analysis_project/ASI_FIMSA_workshop/slides/figures/nb04_tiles.jpg">    </p:cNvPr>
          <p:cNvPicPr>
            <a:picLocks noChangeAspect="1"/>
          </p:cNvPicPr>
          <p:nvPr/>
        </p:nvPicPr>
        <p:blipFill>
          <a:blip r:embed="rId1"/>
          <a:stretch>
            <a:fillRect/>
          </a:stretch>
        </p:blipFill>
        <p:spPr>
          <a:xfrm>
            <a:off x="647182" y="1115568"/>
            <a:ext cx="10894587" cy="2926080"/>
          </a:xfrm>
          <a:prstGeom prst="rect">
            <a:avLst/>
          </a:prstGeom>
        </p:spPr>
      </p:pic>
      <p:sp>
        <p:nvSpPr>
          <p:cNvPr id="4" name="Text 1"/>
          <p:cNvSpPr/>
          <p:nvPr/>
        </p:nvSpPr>
        <p:spPr>
          <a:xfrm>
            <a:off x="640080" y="4187952"/>
            <a:ext cx="10908792" cy="1572768"/>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3,798 Visium spots, one 390 px tile each, cut from the 1.8 GB full-resolution H&amp;E and resized to 64 px.</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On the 2,000 px thumbnail an 8 µm nucleus is 2 pixels. At full resolution it is 26.</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Cut the tiles in adata.obs_names order. Any other order silently trains the model to r ≈ 0.</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4 §2  ·  Visium V1_Breast_Cancer_Block_A_Section_1, full-resolution H&amp;E memory-mapped with tifffile</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A 118,160-parameter ViT trains in three to six minutes on a free CPU runtime</a:t>
            </a:r>
            <a:endParaRPr lang="en-US" sz="2400" dirty="0"/>
          </a:p>
        </p:txBody>
      </p:sp>
      <p:pic>
        <p:nvPicPr>
          <p:cNvPr id="3" name="Image 0" descr="/scratch/user/uqxtan9/analysis_project/ASI_FIMSA_workshop/slides/figures/nb04_training.png">    </p:cNvPr>
          <p:cNvPicPr>
            <a:picLocks noChangeAspect="1"/>
          </p:cNvPicPr>
          <p:nvPr/>
        </p:nvPicPr>
        <p:blipFill>
          <a:blip r:embed="rId1"/>
          <a:stretch>
            <a:fillRect/>
          </a:stretch>
        </p:blipFill>
        <p:spPr>
          <a:xfrm>
            <a:off x="1843054" y="1115568"/>
            <a:ext cx="8502844" cy="2926080"/>
          </a:xfrm>
          <a:prstGeom prst="rect">
            <a:avLst/>
          </a:prstGeom>
        </p:spPr>
      </p:pic>
      <p:sp>
        <p:nvSpPr>
          <p:cNvPr id="4" name="Text 1"/>
          <p:cNvSpPr/>
          <p:nvPr/>
        </p:nvSpPr>
        <p:spPr>
          <a:xfrm>
            <a:off x="640080" y="4187952"/>
            <a:ext cx="10908792" cy="1572768"/>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Plain PyTorch: an 8×8 patch embedding giving 64 tokens plus a [CLS], three blocks, four heads, d_model 64.</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2,848 training and 950 held-out spots, 16 marker genes z-scored, 35 epochs.</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Spots are split at random, so a validation spot often neighbours a training spot.</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4 §6  ·  derived from gml-teaching-2026, Deep_learning_04_vit_HE_spatial.ipynb</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Mean r ≈ 0.31: stromal genes predict from morphology, immune markers do not</a:t>
            </a:r>
            <a:endParaRPr lang="en-US" sz="2400" dirty="0"/>
          </a:p>
        </p:txBody>
      </p:sp>
      <p:pic>
        <p:nvPicPr>
          <p:cNvPr id="3" name="Image 0" descr="/scratch/user/uqxtan9/analysis_project/ASI_FIMSA_workshop/slides/figures/nb04_per_gene_r.png">    </p:cNvPr>
          <p:cNvPicPr>
            <a:picLocks noChangeAspect="1"/>
          </p:cNvPicPr>
          <p:nvPr/>
        </p:nvPicPr>
        <p:blipFill>
          <a:blip r:embed="rId1"/>
          <a:stretch>
            <a:fillRect/>
          </a:stretch>
        </p:blipFill>
        <p:spPr>
          <a:xfrm>
            <a:off x="865601" y="1143000"/>
            <a:ext cx="5995478" cy="4590288"/>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DCN 0.47, KRT8 0.46, COL1A1 0.42. Then PTPRC 0.29, CD68 0.27, CD3D 0.23, MS4A1 0.17.</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Three reasons stacked: dropout, resolution, and morphological ambiguity.</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A small round blue cell on H&amp;E could be a T cell, a B cell, an NK cell or a plasmacytoid dendritic cell. The information is not in the image, and no amount of training data fixes that.</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4 §7  ·  Pearson r on held-out spots, one CPU run; values move slightly between runs and between CPU and GPU</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It works best where you needed it least and worst where you needed it most</a:t>
            </a:r>
            <a:endParaRPr lang="en-US" sz="2400" dirty="0"/>
          </a:p>
        </p:txBody>
      </p:sp>
      <p:pic>
        <p:nvPicPr>
          <p:cNvPr id="3" name="Image 0" descr="/scratch/user/uqxtan9/analysis_project/ASI_FIMSA_workshop/slides/figures/nb04_predicted_on_tissue.jpg">    </p:cNvPr>
          <p:cNvPicPr>
            <a:picLocks noChangeAspect="1"/>
          </p:cNvPicPr>
          <p:nvPr/>
        </p:nvPicPr>
        <p:blipFill>
          <a:blip r:embed="rId1"/>
          <a:stretch>
            <a:fillRect/>
          </a:stretch>
        </p:blipFill>
        <p:spPr>
          <a:xfrm>
            <a:off x="1512402" y="1143000"/>
            <a:ext cx="4701875" cy="4590288"/>
          </a:xfrm>
          <a:prstGeom prst="rect">
            <a:avLst/>
          </a:prstGeom>
        </p:spPr>
      </p:pic>
      <p:sp>
        <p:nvSpPr>
          <p:cNvPr id="4" name="Text 1"/>
          <p:cNvSpPr/>
          <p:nvPr/>
        </p:nvSpPr>
        <p:spPr>
          <a:xfrm>
            <a:off x="7498080" y="1170432"/>
            <a:ext cx="4233672" cy="4526280"/>
          </a:xfrm>
          <a:prstGeom prst="rect">
            <a:avLst/>
          </a:prstGeom>
          <a:noFill/>
          <a:ln/>
        </p:spPr>
        <p:txBody>
          <a:bodyPr wrap="square" lIns="0" tIns="0" rIns="0" bIns="0" rtlCol="0" anchor="t"/>
          <a:lstStyle/>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DCN at r = 0.46: the model reproduces the stromal architecture of the section from morphology alone.</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IGLC7 at r = 0.08: the prediction collapses to a flat band at the mean. That is what “the information is not in the image” looks like.</a:t>
            </a:r>
            <a:endParaRPr lang="en-US" sz="1800" dirty="0"/>
          </a:p>
          <a:p>
            <a:pPr algn="l" marL="228600" indent="-228600">
              <a:spcAft>
                <a:spcPts val="1000"/>
              </a:spcAft>
              <a:buSzPct val="100000"/>
              <a:buChar char="•"/>
            </a:pPr>
            <a:r>
              <a:rPr lang="en-US" sz="1800" dirty="0">
                <a:solidFill>
                  <a:srgbClr val="000000"/>
                </a:solidFill>
                <a:latin typeface="Arial" pitchFamily="34" charset="0"/>
                <a:ea typeface="Arial" pitchFamily="34" charset="-122"/>
                <a:cs typeface="Arial" pitchFamily="34" charset="-120"/>
              </a:rPr>
              <a:t>Predicting expression from H&amp;E is real and useful. Any paper claiming to read the immune microenvironment off H&amp;E deserves this chart pointed at it.</a:t>
            </a:r>
            <a:endParaRPr lang="en-US" sz="1800" dirty="0"/>
          </a:p>
        </p:txBody>
      </p:sp>
      <p:sp>
        <p:nvSpPr>
          <p:cNvPr id="5" name="Text 2"/>
          <p:cNvSpPr/>
          <p:nvPr/>
        </p:nvSpPr>
        <p:spPr>
          <a:xfrm>
            <a:off x="640080" y="5833872"/>
            <a:ext cx="10908792" cy="237744"/>
          </a:xfrm>
          <a:prstGeom prst="rect">
            <a:avLst/>
          </a:prstGeom>
          <a:noFill/>
          <a:ln/>
        </p:spPr>
        <p:txBody>
          <a:bodyPr wrap="square" lIns="0" tIns="0" rIns="0" bIns="0" rtlCol="0" anchor="t"/>
          <a:lstStyle/>
          <a:p>
            <a:pPr algn="l" indent="0" marL="0">
              <a:buNone/>
            </a:pPr>
            <a:r>
              <a:rPr lang="en-US" sz="1200" dirty="0">
                <a:solidFill>
                  <a:srgbClr val="595959"/>
                </a:solidFill>
                <a:latin typeface="Arial" pitchFamily="34" charset="0"/>
                <a:ea typeface="Arial" pitchFamily="34" charset="-122"/>
                <a:cs typeface="Arial" pitchFamily="34" charset="-120"/>
              </a:rPr>
              <a:t>Tutorial 4 §7.2  ·  measured against ViT-predicted, held-out spots, one shared colour scale</a:t>
            </a:r>
            <a:endParaRPr lang="en-US" sz="12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Three methods, three failure modes, one consistent blind spot</a:t>
            </a:r>
            <a:endParaRPr lang="en-US" sz="2400" dirty="0"/>
          </a:p>
        </p:txBody>
      </p:sp>
      <p:sp>
        <p:nvSpPr>
          <p:cNvPr id="3" name="Shape 1"/>
          <p:cNvSpPr/>
          <p:nvPr/>
        </p:nvSpPr>
        <p:spPr>
          <a:xfrm>
            <a:off x="640080" y="1207008"/>
            <a:ext cx="3465576" cy="3017520"/>
          </a:xfrm>
          <a:prstGeom prst="roundRect">
            <a:avLst>
              <a:gd name="adj" fmla="val 2121"/>
            </a:avLst>
          </a:prstGeom>
          <a:solidFill>
            <a:srgbClr val="F2F2F2"/>
          </a:solidFill>
          <a:ln w="12700">
            <a:solidFill>
              <a:srgbClr val="F2F2F2"/>
            </a:solidFill>
            <a:prstDash val="solid"/>
          </a:ln>
        </p:spPr>
      </p:sp>
      <p:sp>
        <p:nvSpPr>
          <p:cNvPr id="4" name="Text 2"/>
          <p:cNvSpPr/>
          <p:nvPr/>
        </p:nvSpPr>
        <p:spPr>
          <a:xfrm>
            <a:off x="804672" y="1335024"/>
            <a:ext cx="3136392" cy="347472"/>
          </a:xfrm>
          <a:prstGeom prst="rect">
            <a:avLst/>
          </a:prstGeom>
          <a:noFill/>
          <a:ln/>
        </p:spPr>
        <p:txBody>
          <a:bodyPr wrap="square" lIns="0" tIns="0" rIns="0" bIns="0" rtlCol="0" anchor="t"/>
          <a:lstStyle/>
          <a:p>
            <a:pPr indent="0" marL="0">
              <a:buNone/>
            </a:pPr>
            <a:r>
              <a:rPr lang="en-US" sz="1600" b="1" dirty="0">
                <a:solidFill>
                  <a:srgbClr val="C00000"/>
                </a:solidFill>
                <a:latin typeface="Arial" pitchFamily="34" charset="0"/>
                <a:ea typeface="Arial" pitchFamily="34" charset="-122"/>
                <a:cs typeface="Arial" pitchFamily="34" charset="-120"/>
              </a:rPr>
              <a:t>Tutorial 2</a:t>
            </a:r>
            <a:endParaRPr lang="en-US" sz="1600" dirty="0"/>
          </a:p>
        </p:txBody>
      </p:sp>
      <p:sp>
        <p:nvSpPr>
          <p:cNvPr id="5" name="Text 3"/>
          <p:cNvSpPr/>
          <p:nvPr/>
        </p:nvSpPr>
        <p:spPr>
          <a:xfrm>
            <a:off x="804672" y="1755648"/>
            <a:ext cx="3136392" cy="100584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No B-cell cluster.</a:t>
            </a:r>
            <a:endParaRPr lang="en-US" sz="1700" dirty="0"/>
          </a:p>
        </p:txBody>
      </p:sp>
      <p:sp>
        <p:nvSpPr>
          <p:cNvPr id="6" name="Text 4"/>
          <p:cNvSpPr/>
          <p:nvPr/>
        </p:nvSpPr>
        <p:spPr>
          <a:xfrm>
            <a:off x="804672" y="2834640"/>
            <a:ext cx="3136392" cy="1243584"/>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About 10% of cells carry at least one B-cell gene, but graphclust does not resolve them as their own population. No label was forced.</a:t>
            </a:r>
            <a:endParaRPr lang="en-US" sz="1400" dirty="0"/>
          </a:p>
        </p:txBody>
      </p:sp>
      <p:sp>
        <p:nvSpPr>
          <p:cNvPr id="7" name="Shape 5"/>
          <p:cNvSpPr/>
          <p:nvPr/>
        </p:nvSpPr>
        <p:spPr>
          <a:xfrm>
            <a:off x="4361688" y="1207008"/>
            <a:ext cx="3465576" cy="3017520"/>
          </a:xfrm>
          <a:prstGeom prst="roundRect">
            <a:avLst>
              <a:gd name="adj" fmla="val 2121"/>
            </a:avLst>
          </a:prstGeom>
          <a:solidFill>
            <a:srgbClr val="F2F2F2"/>
          </a:solidFill>
          <a:ln w="12700">
            <a:solidFill>
              <a:srgbClr val="F2F2F2"/>
            </a:solidFill>
            <a:prstDash val="solid"/>
          </a:ln>
        </p:spPr>
      </p:sp>
      <p:sp>
        <p:nvSpPr>
          <p:cNvPr id="8" name="Text 6"/>
          <p:cNvSpPr/>
          <p:nvPr/>
        </p:nvSpPr>
        <p:spPr>
          <a:xfrm>
            <a:off x="4526280" y="1335024"/>
            <a:ext cx="3136392" cy="347472"/>
          </a:xfrm>
          <a:prstGeom prst="rect">
            <a:avLst/>
          </a:prstGeom>
          <a:noFill/>
          <a:ln/>
        </p:spPr>
        <p:txBody>
          <a:bodyPr wrap="square" lIns="0" tIns="0" rIns="0" bIns="0" rtlCol="0" anchor="t"/>
          <a:lstStyle/>
          <a:p>
            <a:pPr indent="0" marL="0">
              <a:buNone/>
            </a:pPr>
            <a:r>
              <a:rPr lang="en-US" sz="1600" b="1" dirty="0">
                <a:solidFill>
                  <a:srgbClr val="C00000"/>
                </a:solidFill>
                <a:latin typeface="Arial" pitchFamily="34" charset="0"/>
                <a:ea typeface="Arial" pitchFamily="34" charset="-122"/>
                <a:cs typeface="Arial" pitchFamily="34" charset="-120"/>
              </a:rPr>
              <a:t>Tutorial 3</a:t>
            </a:r>
            <a:endParaRPr lang="en-US" sz="1600" dirty="0"/>
          </a:p>
        </p:txBody>
      </p:sp>
      <p:sp>
        <p:nvSpPr>
          <p:cNvPr id="9" name="Text 7"/>
          <p:cNvSpPr/>
          <p:nvPr/>
        </p:nvSpPr>
        <p:spPr>
          <a:xfrm>
            <a:off x="4526280" y="1755648"/>
            <a:ext cx="3136392" cy="100584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Every immune pair ranks below the abundant adhesion biology.</a:t>
            </a:r>
            <a:endParaRPr lang="en-US" sz="1700" dirty="0"/>
          </a:p>
        </p:txBody>
      </p:sp>
      <p:sp>
        <p:nvSpPr>
          <p:cNvPr id="10" name="Text 8"/>
          <p:cNvSpPr/>
          <p:nvPr/>
        </p:nvSpPr>
        <p:spPr>
          <a:xfrm>
            <a:off x="4526280" y="2834640"/>
            <a:ext cx="3136392" cy="1243584"/>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CD274–PDCD1 cannot be evaluated at all: too sparse to survive the expression filter.</a:t>
            </a:r>
            <a:endParaRPr lang="en-US" sz="1400" dirty="0"/>
          </a:p>
        </p:txBody>
      </p:sp>
      <p:sp>
        <p:nvSpPr>
          <p:cNvPr id="11" name="Shape 9"/>
          <p:cNvSpPr/>
          <p:nvPr/>
        </p:nvSpPr>
        <p:spPr>
          <a:xfrm>
            <a:off x="8083296" y="1207008"/>
            <a:ext cx="3465576" cy="3017520"/>
          </a:xfrm>
          <a:prstGeom prst="roundRect">
            <a:avLst>
              <a:gd name="adj" fmla="val 2121"/>
            </a:avLst>
          </a:prstGeom>
          <a:solidFill>
            <a:srgbClr val="F2F2F2"/>
          </a:solidFill>
          <a:ln w="12700">
            <a:solidFill>
              <a:srgbClr val="F2F2F2"/>
            </a:solidFill>
            <a:prstDash val="solid"/>
          </a:ln>
        </p:spPr>
      </p:sp>
      <p:sp>
        <p:nvSpPr>
          <p:cNvPr id="12" name="Text 10"/>
          <p:cNvSpPr/>
          <p:nvPr/>
        </p:nvSpPr>
        <p:spPr>
          <a:xfrm>
            <a:off x="8247888" y="1335024"/>
            <a:ext cx="3136392" cy="347472"/>
          </a:xfrm>
          <a:prstGeom prst="rect">
            <a:avLst/>
          </a:prstGeom>
          <a:noFill/>
          <a:ln/>
        </p:spPr>
        <p:txBody>
          <a:bodyPr wrap="square" lIns="0" tIns="0" rIns="0" bIns="0" rtlCol="0" anchor="t"/>
          <a:lstStyle/>
          <a:p>
            <a:pPr indent="0" marL="0">
              <a:buNone/>
            </a:pPr>
            <a:r>
              <a:rPr lang="en-US" sz="1600" b="1" dirty="0">
                <a:solidFill>
                  <a:srgbClr val="C00000"/>
                </a:solidFill>
                <a:latin typeface="Arial" pitchFamily="34" charset="0"/>
                <a:ea typeface="Arial" pitchFamily="34" charset="-122"/>
                <a:cs typeface="Arial" pitchFamily="34" charset="-120"/>
              </a:rPr>
              <a:t>Tutorial 4</a:t>
            </a:r>
            <a:endParaRPr lang="en-US" sz="1600" dirty="0"/>
          </a:p>
        </p:txBody>
      </p:sp>
      <p:sp>
        <p:nvSpPr>
          <p:cNvPr id="13" name="Text 11"/>
          <p:cNvSpPr/>
          <p:nvPr/>
        </p:nvSpPr>
        <p:spPr>
          <a:xfrm>
            <a:off x="8247888" y="1755648"/>
            <a:ext cx="3136392" cy="1005840"/>
          </a:xfrm>
          <a:prstGeom prst="rect">
            <a:avLst/>
          </a:prstGeom>
          <a:noFill/>
          <a:ln/>
        </p:spPr>
        <p:txBody>
          <a:bodyPr wrap="square" lIns="0" tIns="0" rIns="0" bIns="0" rtlCol="0" anchor="t"/>
          <a:lstStyle/>
          <a:p>
            <a:pPr indent="0" marL="0">
              <a:buNone/>
            </a:pPr>
            <a:r>
              <a:rPr lang="en-US" sz="1700" b="1" dirty="0">
                <a:solidFill>
                  <a:srgbClr val="000000"/>
                </a:solidFill>
                <a:latin typeface="Arial" pitchFamily="34" charset="0"/>
                <a:ea typeface="Arial" pitchFamily="34" charset="-122"/>
                <a:cs typeface="Arial" pitchFamily="34" charset="-120"/>
              </a:rPr>
              <a:t>The four immune markers are the worst four genes.</a:t>
            </a:r>
            <a:endParaRPr lang="en-US" sz="1700" dirty="0"/>
          </a:p>
        </p:txBody>
      </p:sp>
      <p:sp>
        <p:nvSpPr>
          <p:cNvPr id="14" name="Text 12"/>
          <p:cNvSpPr/>
          <p:nvPr/>
        </p:nvSpPr>
        <p:spPr>
          <a:xfrm>
            <a:off x="8247888" y="2834640"/>
            <a:ext cx="3136392" cy="1243584"/>
          </a:xfrm>
          <a:prstGeom prst="rect">
            <a:avLst/>
          </a:prstGeom>
          <a:noFill/>
          <a:ln/>
        </p:spPr>
        <p:txBody>
          <a:bodyPr wrap="square" lIns="0" tIns="0" rIns="0" bIns="0" rtlCol="0" anchor="t"/>
          <a:lstStyle/>
          <a:p>
            <a:pPr indent="0" marL="0">
              <a:buNone/>
            </a:pPr>
            <a:r>
              <a:rPr lang="en-US" sz="1400" dirty="0">
                <a:solidFill>
                  <a:srgbClr val="000000"/>
                </a:solidFill>
                <a:latin typeface="Arial" pitchFamily="34" charset="0"/>
                <a:ea typeface="Arial" pitchFamily="34" charset="-122"/>
                <a:cs typeface="Arial" pitchFamily="34" charset="-120"/>
              </a:rPr>
              <a:t>Stromal and epithelial genes predict from morphology. PTPRC, CD68, CD3D and MS4A1 do not.</a:t>
            </a:r>
            <a:endParaRPr lang="en-US" sz="1400" dirty="0"/>
          </a:p>
        </p:txBody>
      </p:sp>
      <p:sp>
        <p:nvSpPr>
          <p:cNvPr id="15" name="Text 13"/>
          <p:cNvSpPr/>
          <p:nvPr/>
        </p:nvSpPr>
        <p:spPr>
          <a:xfrm>
            <a:off x="640080" y="4663440"/>
            <a:ext cx="10908792" cy="1005840"/>
          </a:xfrm>
          <a:prstGeom prst="rect">
            <a:avLst/>
          </a:prstGeom>
          <a:noFill/>
          <a:ln/>
        </p:spPr>
        <p:txBody>
          <a:bodyPr wrap="square" lIns="0" tIns="0" rIns="0" bIns="0" rtlCol="0" anchor="t"/>
          <a:lstStyle/>
          <a:p>
            <a:pPr indent="0" marL="0">
              <a:buNone/>
            </a:pPr>
            <a:r>
              <a:rPr lang="en-US" sz="1900" dirty="0">
                <a:solidFill>
                  <a:srgbClr val="000000"/>
                </a:solidFill>
                <a:latin typeface="Arial" pitchFamily="34" charset="0"/>
                <a:ea typeface="Arial" pitchFamily="34" charset="-122"/>
                <a:cs typeface="Arial" pitchFamily="34" charset="-120"/>
              </a:rPr>
              <a:t>Every one of these methods has a boundary, and the boundary usually lands on the immune compartment. Knowing where it lands is the difference between using these tools and being used by them.</a:t>
            </a:r>
            <a:endParaRPr lang="en-US" sz="19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2039112" y="45720"/>
            <a:ext cx="10058400" cy="868680"/>
          </a:xfrm>
          <a:prstGeom prst="rect">
            <a:avLst/>
          </a:prstGeom>
          <a:noFill/>
          <a:ln/>
        </p:spPr>
        <p:txBody>
          <a:bodyPr wrap="square" lIns="0" tIns="0" rIns="0" bIns="0" rtlCol="0" anchor="ctr"/>
          <a:lstStyle/>
          <a:p>
            <a:pPr indent="0" marL="0">
              <a:buNone/>
            </a:pPr>
            <a:r>
              <a:rPr lang="en-US" sz="2400" b="1" dirty="0">
                <a:solidFill>
                  <a:srgbClr val="C00000"/>
                </a:solidFill>
                <a:latin typeface="Arial" pitchFamily="34" charset="0"/>
                <a:ea typeface="Arial" pitchFamily="34" charset="-122"/>
                <a:cs typeface="Arial" pitchFamily="34" charset="-120"/>
              </a:rPr>
              <a:t>Credits, licences and further reading</a:t>
            </a:r>
            <a:endParaRPr lang="en-US" sz="2400" dirty="0"/>
          </a:p>
        </p:txBody>
      </p:sp>
      <p:sp>
        <p:nvSpPr>
          <p:cNvPr id="3" name="Text 1"/>
          <p:cNvSpPr/>
          <p:nvPr/>
        </p:nvSpPr>
        <p:spPr>
          <a:xfrm>
            <a:off x="640080" y="1252728"/>
            <a:ext cx="1600200" cy="365760"/>
          </a:xfrm>
          <a:prstGeom prst="rect">
            <a:avLst/>
          </a:prstGeom>
          <a:noFill/>
          <a:ln/>
        </p:spPr>
        <p:txBody>
          <a:bodyPr wrap="square" lIns="0" tIns="0" rIns="0" bIns="0" rtlCol="0" anchor="t"/>
          <a:lstStyle/>
          <a:p>
            <a:pPr indent="0" marL="0">
              <a:buNone/>
            </a:pPr>
            <a:r>
              <a:rPr lang="en-US" sz="1800" b="1" dirty="0">
                <a:solidFill>
                  <a:srgbClr val="C00000"/>
                </a:solidFill>
                <a:latin typeface="Arial" pitchFamily="34" charset="0"/>
                <a:ea typeface="Arial" pitchFamily="34" charset="-122"/>
                <a:cs typeface="Arial" pitchFamily="34" charset="-120"/>
              </a:rPr>
              <a:t>Data</a:t>
            </a:r>
            <a:endParaRPr lang="en-US" sz="1800" dirty="0"/>
          </a:p>
        </p:txBody>
      </p:sp>
      <p:sp>
        <p:nvSpPr>
          <p:cNvPr id="4" name="Text 2"/>
          <p:cNvSpPr/>
          <p:nvPr/>
        </p:nvSpPr>
        <p:spPr>
          <a:xfrm>
            <a:off x="2331720" y="1252728"/>
            <a:ext cx="9217152" cy="1325880"/>
          </a:xfrm>
          <a:prstGeom prst="rect">
            <a:avLst/>
          </a:prstGeom>
          <a:noFill/>
          <a:ln/>
        </p:spPr>
        <p:txBody>
          <a:bodyPr wrap="square" lIns="0" tIns="0" rIns="0" bIns="0" rtlCol="0" anchor="t"/>
          <a:lstStyle/>
          <a:p>
            <a:pPr indent="0" marL="0">
              <a:buNone/>
            </a:pPr>
            <a:r>
              <a:rPr lang="en-US" sz="1600" dirty="0">
                <a:solidFill>
                  <a:srgbClr val="000000"/>
                </a:solidFill>
                <a:latin typeface="Arial" pitchFamily="34" charset="0"/>
                <a:ea typeface="Arial" pitchFamily="34" charset="-122"/>
                <a:cs typeface="Arial" pitchFamily="34" charset="-120"/>
              </a:rPr>
              <a:t>All three datasets are generated and released by 10x Genomics. Xenium breast: Janesick, Shelansky, Gottscho et al., Nat Commun 14, 8353 (2023). The Atera whole-transcriptome preview is CC BY 4.0; Visium and Xenium are downloaded from 10x directly and not redistributed here.</a:t>
            </a:r>
            <a:endParaRPr lang="en-US" sz="1600" dirty="0"/>
          </a:p>
        </p:txBody>
      </p:sp>
      <p:sp>
        <p:nvSpPr>
          <p:cNvPr id="5" name="Text 3"/>
          <p:cNvSpPr/>
          <p:nvPr/>
        </p:nvSpPr>
        <p:spPr>
          <a:xfrm>
            <a:off x="640080" y="2734056"/>
            <a:ext cx="1600200" cy="365760"/>
          </a:xfrm>
          <a:prstGeom prst="rect">
            <a:avLst/>
          </a:prstGeom>
          <a:noFill/>
          <a:ln/>
        </p:spPr>
        <p:txBody>
          <a:bodyPr wrap="square" lIns="0" tIns="0" rIns="0" bIns="0" rtlCol="0" anchor="t"/>
          <a:lstStyle/>
          <a:p>
            <a:pPr indent="0" marL="0">
              <a:buNone/>
            </a:pPr>
            <a:r>
              <a:rPr lang="en-US" sz="1800" b="1" dirty="0">
                <a:solidFill>
                  <a:srgbClr val="C00000"/>
                </a:solidFill>
                <a:latin typeface="Arial" pitchFamily="34" charset="0"/>
                <a:ea typeface="Arial" pitchFamily="34" charset="-122"/>
                <a:cs typeface="Arial" pitchFamily="34" charset="-120"/>
              </a:rPr>
              <a:t>Methods</a:t>
            </a:r>
            <a:endParaRPr lang="en-US" sz="1800" dirty="0"/>
          </a:p>
        </p:txBody>
      </p:sp>
      <p:sp>
        <p:nvSpPr>
          <p:cNvPr id="6" name="Text 4"/>
          <p:cNvSpPr/>
          <p:nvPr/>
        </p:nvSpPr>
        <p:spPr>
          <a:xfrm>
            <a:off x="2331720" y="2734056"/>
            <a:ext cx="9217152" cy="1325880"/>
          </a:xfrm>
          <a:prstGeom prst="rect">
            <a:avLst/>
          </a:prstGeom>
          <a:noFill/>
          <a:ln/>
        </p:spPr>
        <p:txBody>
          <a:bodyPr wrap="square" lIns="0" tIns="0" rIns="0" bIns="0" rtlCol="0" anchor="t"/>
          <a:lstStyle/>
          <a:p>
            <a:pPr indent="0" marL="0">
              <a:buNone/>
            </a:pPr>
            <a:r>
              <a:rPr lang="en-US" sz="1600" dirty="0">
                <a:solidFill>
                  <a:srgbClr val="000000"/>
                </a:solidFill>
                <a:latin typeface="Arial" pitchFamily="34" charset="0"/>
                <a:ea typeface="Arial" pitchFamily="34" charset="-122"/>
                <a:cs typeface="Arial" pitchFamily="34" charset="-120"/>
              </a:rPr>
              <a:t>LIANA+ — Dimitrov et al., Nat Cell Biol 26, 1613 (2024). squidpy, sopa, scanpy and the spatialdata family. Vision Transformer — Dosovitskiy et al., arXiv:2010.11929. Attention rollout — Abnar &amp; Zuidema, arXiv:2005.00928.</a:t>
            </a:r>
            <a:endParaRPr lang="en-US" sz="1600" dirty="0"/>
          </a:p>
        </p:txBody>
      </p:sp>
      <p:sp>
        <p:nvSpPr>
          <p:cNvPr id="7" name="Text 5"/>
          <p:cNvSpPr/>
          <p:nvPr/>
        </p:nvSpPr>
        <p:spPr>
          <a:xfrm>
            <a:off x="640080" y="4215384"/>
            <a:ext cx="1600200" cy="365760"/>
          </a:xfrm>
          <a:prstGeom prst="rect">
            <a:avLst/>
          </a:prstGeom>
          <a:noFill/>
          <a:ln/>
        </p:spPr>
        <p:txBody>
          <a:bodyPr wrap="square" lIns="0" tIns="0" rIns="0" bIns="0" rtlCol="0" anchor="t"/>
          <a:lstStyle/>
          <a:p>
            <a:pPr indent="0" marL="0">
              <a:buNone/>
            </a:pPr>
            <a:r>
              <a:rPr lang="en-US" sz="1800" b="1" dirty="0">
                <a:solidFill>
                  <a:srgbClr val="C00000"/>
                </a:solidFill>
                <a:latin typeface="Arial" pitchFamily="34" charset="0"/>
                <a:ea typeface="Arial" pitchFamily="34" charset="-122"/>
                <a:cs typeface="Arial" pitchFamily="34" charset="-120"/>
              </a:rPr>
              <a:t>Material</a:t>
            </a:r>
            <a:endParaRPr lang="en-US" sz="1800" dirty="0"/>
          </a:p>
        </p:txBody>
      </p:sp>
      <p:sp>
        <p:nvSpPr>
          <p:cNvPr id="8" name="Text 6"/>
          <p:cNvSpPr/>
          <p:nvPr/>
        </p:nvSpPr>
        <p:spPr>
          <a:xfrm>
            <a:off x="2331720" y="4215384"/>
            <a:ext cx="9217152" cy="1325880"/>
          </a:xfrm>
          <a:prstGeom prst="rect">
            <a:avLst/>
          </a:prstGeom>
          <a:noFill/>
          <a:ln/>
        </p:spPr>
        <p:txBody>
          <a:bodyPr wrap="square" lIns="0" tIns="0" rIns="0" bIns="0" rtlCol="0" anchor="t"/>
          <a:lstStyle/>
          <a:p>
            <a:pPr indent="0" marL="0">
              <a:buNone/>
            </a:pPr>
            <a:r>
              <a:rPr lang="en-US" sz="1600" dirty="0">
                <a:solidFill>
                  <a:srgbClr val="000000"/>
                </a:solidFill>
                <a:latin typeface="Arial" pitchFamily="34" charset="0"/>
                <a:ea typeface="Arial" pitchFamily="34" charset="-122"/>
                <a:cs typeface="Arial" pitchFamily="34" charset="-120"/>
              </a:rPr>
              <a:t>Derived from the gml-teaching-2026 course of the Genomics and Machine Learning Lab, QIMR Berghofer Medical Research Institute | The University of Queensland. Teaching material and code are MIT licensed.</a:t>
            </a:r>
            <a:endParaRPr lang="en-US" sz="1600" dirty="0"/>
          </a:p>
        </p:txBody>
      </p:sp>
      <p:sp>
        <p:nvSpPr>
          <p:cNvPr id="9" name="Text 7"/>
          <p:cNvSpPr/>
          <p:nvPr/>
        </p:nvSpPr>
        <p:spPr>
          <a:xfrm>
            <a:off x="640080" y="5596128"/>
            <a:ext cx="10908792" cy="365760"/>
          </a:xfrm>
          <a:prstGeom prst="rect">
            <a:avLst/>
          </a:prstGeom>
          <a:noFill/>
          <a:ln/>
        </p:spPr>
        <p:txBody>
          <a:bodyPr wrap="square" lIns="0" tIns="0" rIns="0" bIns="0" rtlCol="0" anchor="t"/>
          <a:lstStyle/>
          <a:p>
            <a:pPr indent="0" marL="0">
              <a:buNone/>
            </a:pPr>
            <a:r>
              <a:rPr lang="en-US" sz="1800" b="1" dirty="0">
                <a:solidFill>
                  <a:srgbClr val="000000"/>
                </a:solidFill>
                <a:latin typeface="Arial" pitchFamily="34" charset="0"/>
                <a:ea typeface="Arial" pitchFamily="34" charset="-122"/>
                <a:cs typeface="Arial" pitchFamily="34" charset="-120"/>
              </a:rPr>
              <a:t>github.com/xiao233333/ASI-FIMSA-workshop-2026</a:t>
            </a:r>
            <a:endParaRPr lang="en-US" sz="1800" dirty="0"/>
          </a:p>
        </p:txBody>
      </p:sp>
      <p:sp>
        <p:nvSpPr>
          <p:cNvPr id="25" name="Slide Number Placeholder 0"/>
          <p:cNvSpPr>
            <a:spLocks noGrp="1"/>
          </p:cNvSpPr>
          <p:nvPr>
            <p:ph type="sldNum" sz="quarter" idx="4294967295"/>
          </p:nvPr>
        </p:nvSpPr>
        <p:spPr>
          <a:xfrm>
            <a:off x="11173968" y="6355080"/>
            <a:ext cx="411480"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595959"/>
                </a:solidFill>
                <a:latin typeface="Arial"/>
                <a:ea typeface="Arial"/>
                <a:cs typeface="Arial"/>
              </a:defRPr>
            </a:lvl1pPr>
          </a:lstStyle>
          <a:p>
            <a:pPr algn="l"/>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2026-08-26T16:24:30Z</dcterms:created>
  <dcterms:modified xsi:type="dcterms:W3CDTF">2026-08-26T16:24:30Z</dcterms:modified>
</cp:coreProperties>
</file>